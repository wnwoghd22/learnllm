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2286000"/>
            <a:ext cx="7315200" cy="1828800"/>
          </a:xfrm>
          <a:prstGeom prst="rect">
            <a:avLst/>
          </a:prstGeom>
          <a:noFill/>
        </p:spPr>
        <p:txBody>
          <a:bodyPr wrap="square">
            <a:spAutoFit/>
          </a:bodyPr>
          <a:lstStyle/>
          <a:p>
            <a:pPr algn="ctr">
              <a:defRPr sz="4400" b="1">
                <a:solidFill>
                  <a:srgbClr val="003366"/>
                </a:solidFill>
                <a:latin typeface="Malgun Gothic"/>
              </a:defRPr>
            </a:pPr>
            <a:r>
              <a:t>AI와 심리학</a:t>
            </a:r>
          </a:p>
          <a:p>
            <a:pPr algn="ctr">
              <a:spcBef>
                <a:spcPts val="3000"/>
              </a:spcBef>
              <a:defRPr sz="2400">
                <a:solidFill>
                  <a:srgbClr val="666666"/>
                </a:solidFill>
                <a:latin typeface="Malgun Gothic"/>
              </a:defRPr>
            </a:pPr>
            <a:r>
              <a:t>인간의 마음을 이해하는 인공지능</a:t>
            </a:r>
            <a:br/>
            <a:r>
              <a:t>Understanding AI Through the Lens of Psychology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오프닝: 지능의 본질</a:t>
            </a:r>
          </a:p>
        </p:txBody>
      </p:sp>
      <p:sp>
        <p:nvSpPr>
          <p:cNvPr id="4" name="Rounded Rectangle 3"/>
          <p:cNvSpPr/>
          <p:nvPr/>
        </p:nvSpPr>
        <p:spPr>
          <a:xfrm>
            <a:off x="731520" y="1828800"/>
            <a:ext cx="7680960" cy="3200400"/>
          </a:xfrm>
          <a:prstGeom prst="roundRect">
            <a:avLst/>
          </a:prstGeom>
          <a:solidFill>
            <a:srgbClr val="F0F0F5"/>
          </a:solidFill>
          <a:ln w="254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i="1">
                <a:solidFill>
                  <a:srgbClr val="003366"/>
                </a:solidFill>
                <a:latin typeface="Malgun Gothic"/>
              </a:defRPr>
            </a:pPr>
            <a:r>
              <a:t>"AI 심리학은 단순히 기계를 더 잘 부려먹기 위한 매뉴얼이 아닙니다. AI라는 거울을 통해 우리 자신의 인지적 한계와 편향을 들여다보고, 그 결함을 기술과 심리학으로 함께 보완해 나가는 지능의 협업에 관한 이야기입니다."</a:t>
            </a:r>
          </a:p>
          <a:p>
            <a:br/>
            <a:pPr algn="r">
              <a:defRPr sz="1600">
                <a:solidFill>
                  <a:srgbClr val="666666"/>
                </a:solidFill>
                <a:latin typeface="Malgun Gothic"/>
              </a:defRPr>
            </a:pPr>
            <a:r>
              <a:t>— 본 발표의 핵심 메시지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발표 개요 (4개 세션)</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인지심리학 세션: Attention, 자원 관리, 컨텍스트 최적화</a:t>
            </a:r>
          </a:p>
          <a:p>
            <a:pPr>
              <a:spcAft>
                <a:spcPts val="1400"/>
              </a:spcAft>
              <a:defRPr sz="2000">
                <a:solidFill>
                  <a:srgbClr val="333333"/>
                </a:solidFill>
                <a:latin typeface="Malgun Gothic"/>
              </a:defRPr>
            </a:pPr>
            <a:r>
              <a:t>• 지각심리학 세션: 맹점 채우기, 할루시네이션, 게슈탈트 이론</a:t>
            </a:r>
          </a:p>
          <a:p>
            <a:pPr>
              <a:spcAft>
                <a:spcPts val="1400"/>
              </a:spcAft>
              <a:defRPr sz="2000">
                <a:solidFill>
                  <a:srgbClr val="333333"/>
                </a:solidFill>
                <a:latin typeface="Malgun Gothic"/>
              </a:defRPr>
            </a:pPr>
            <a:r>
              <a:t>• 정신병리학 세션: 파국화, CBT, CoT 실패와 극복</a:t>
            </a:r>
          </a:p>
          <a:p>
            <a:pPr>
              <a:spcAft>
                <a:spcPts val="1400"/>
              </a:spcAft>
              <a:defRPr sz="2000">
                <a:solidFill>
                  <a:srgbClr val="333333"/>
                </a:solidFill>
                <a:latin typeface="Malgun Gothic"/>
              </a:defRPr>
            </a:pPr>
            <a:r>
              <a:t>• 성격심리학 세션: 페르소나, Big Five 모델 적용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4800" b="1">
                <a:solidFill>
                  <a:srgbClr val="FFFFFF"/>
                </a:solidFill>
                <a:latin typeface="Malgun Gothic"/>
              </a:defRPr>
            </a:pPr>
            <a:r>
              <a:t>세션 1: 인지심리학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Attention is All You Need... for Humans Too</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심리학에서 주의(Attention)는 단순한 집중이 아님</a:t>
            </a:r>
          </a:p>
          <a:p>
            <a:pPr>
              <a:spcAft>
                <a:spcPts val="1400"/>
              </a:spcAft>
              <a:defRPr sz="2000">
                <a:solidFill>
                  <a:srgbClr val="333333"/>
                </a:solidFill>
                <a:latin typeface="Malgun Gothic"/>
              </a:defRPr>
            </a:pPr>
            <a:r>
              <a:t>• 무한한 정보 속에서 무엇을 무시할지 결정하는 생존 본능</a:t>
            </a:r>
          </a:p>
          <a:p>
            <a:pPr>
              <a:spcAft>
                <a:spcPts val="1400"/>
              </a:spcAft>
              <a:defRPr sz="2000">
                <a:solidFill>
                  <a:srgbClr val="333333"/>
                </a:solidFill>
                <a:latin typeface="Malgun Gothic"/>
              </a:defRPr>
            </a:pPr>
            <a:r>
              <a:t>• 2017년, 구글의 연구자들은 기계에게도 선별적 집중 능력을 부여</a:t>
            </a:r>
          </a:p>
          <a:p>
            <a:pPr>
              <a:spcAft>
                <a:spcPts val="1400"/>
              </a:spcAft>
              <a:defRPr sz="2000">
                <a:solidFill>
                  <a:srgbClr val="333333"/>
                </a:solidFill>
                <a:latin typeface="Malgun Gothic"/>
              </a:defRPr>
            </a:pPr>
            <a:r>
              <a:t>• 그 결과가 지금 우리가 쓰는 모든 LLM의 시작</a:t>
            </a:r>
          </a:p>
          <a:p>
            <a:pPr>
              <a:spcAft>
                <a:spcPts val="1400"/>
              </a:spcAft>
              <a:defRPr sz="2000">
                <a:solidFill>
                  <a:srgbClr val="333333"/>
                </a:solidFill>
                <a:latin typeface="Malgun Gothic"/>
              </a:defRPr>
            </a:pPr>
            <a:r>
              <a:t>• 윌리엄 제임스: "우리는 모든 것을 보지만, 모든 것을 처리하지는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Self-Attention의 심리학적 해석</a:t>
            </a:r>
          </a:p>
        </p:txBody>
      </p:sp>
      <p:sp>
        <p:nvSpPr>
          <p:cNvPr id="4" name="TextBox 3"/>
          <p:cNvSpPr txBox="1"/>
          <p:nvPr/>
        </p:nvSpPr>
        <p:spPr>
          <a:xfrm>
            <a:off x="457200" y="1371600"/>
            <a:ext cx="4114800" cy="457200"/>
          </a:xfrm>
          <a:prstGeom prst="rect">
            <a:avLst/>
          </a:prstGeom>
          <a:noFill/>
        </p:spPr>
        <p:txBody>
          <a:bodyPr wrap="none">
            <a:spAutoFit/>
          </a:bodyPr>
          <a:lstStyle/>
          <a:p>
            <a:pPr>
              <a:defRPr sz="1800" b="1">
                <a:solidFill>
                  <a:srgbClr val="003366"/>
                </a:solidFill>
                <a:latin typeface="Malgun Gothic"/>
              </a:defRPr>
            </a:pPr>
            <a:r>
              <a:t>기존 방식 (RNN)</a:t>
            </a:r>
          </a:p>
        </p:txBody>
      </p:sp>
      <p:sp>
        <p:nvSpPr>
          <p:cNvPr id="5" name="TextBox 4"/>
          <p:cNvSpPr txBox="1"/>
          <p:nvPr/>
        </p:nvSpPr>
        <p:spPr>
          <a:xfrm>
            <a:off x="457200" y="1920240"/>
            <a:ext cx="4114800" cy="4114800"/>
          </a:xfrm>
          <a:prstGeom prst="rect">
            <a:avLst/>
          </a:prstGeom>
          <a:noFill/>
        </p:spPr>
        <p:txBody>
          <a:bodyPr wrap="square">
            <a:spAutoFit/>
          </a:bodyPr>
          <a:lstStyle/>
          <a:p>
            <a:pPr>
              <a:spcAft>
                <a:spcPts val="800"/>
              </a:spcAft>
              <a:defRPr sz="1400">
                <a:solidFill>
                  <a:srgbClr val="333333"/>
                </a:solidFill>
                <a:latin typeface="Malgun Gothic"/>
              </a:defRPr>
            </a:pPr>
            <a:r>
              <a:t>• 문장을 한 글자씩 읽는 방식</a:t>
            </a:r>
          </a:p>
          <a:p>
            <a:pPr>
              <a:spcAft>
                <a:spcPts val="800"/>
              </a:spcAft>
              <a:defRPr sz="1400">
                <a:solidFill>
                  <a:srgbClr val="333333"/>
                </a:solidFill>
                <a:latin typeface="Malgun Gothic"/>
              </a:defRPr>
            </a:pPr>
            <a:r>
              <a:t>• 앞 내용을 계속 까먹는 문제</a:t>
            </a:r>
          </a:p>
          <a:p>
            <a:pPr>
              <a:spcAft>
                <a:spcPts val="800"/>
              </a:spcAft>
              <a:defRPr sz="1400">
                <a:solidFill>
                  <a:srgbClr val="333333"/>
                </a:solidFill>
                <a:latin typeface="Malgun Gothic"/>
              </a:defRPr>
            </a:pPr>
            <a:r>
              <a:t>• 긴 문장에서 맥락 상실</a:t>
            </a:r>
          </a:p>
          <a:p>
            <a:pPr>
              <a:spcAft>
                <a:spcPts val="800"/>
              </a:spcAft>
              <a:defRPr sz="1400">
                <a:solidFill>
                  <a:srgbClr val="333333"/>
                </a:solidFill>
                <a:latin typeface="Malgun Gothic"/>
              </a:defRPr>
            </a:pPr>
            <a:r>
              <a:t>• 인지적 한계와 유사</a:t>
            </a:r>
          </a:p>
        </p:txBody>
      </p:sp>
      <p:sp>
        <p:nvSpPr>
          <p:cNvPr id="6" name="TextBox 5"/>
          <p:cNvSpPr txBox="1"/>
          <p:nvPr/>
        </p:nvSpPr>
        <p:spPr>
          <a:xfrm>
            <a:off x="4754880" y="1371600"/>
            <a:ext cx="4114800" cy="457200"/>
          </a:xfrm>
          <a:prstGeom prst="rect">
            <a:avLst/>
          </a:prstGeom>
          <a:noFill/>
        </p:spPr>
        <p:txBody>
          <a:bodyPr wrap="none">
            <a:spAutoFit/>
          </a:bodyPr>
          <a:lstStyle/>
          <a:p>
            <a:pPr>
              <a:defRPr sz="1800" b="1">
                <a:solidFill>
                  <a:srgbClr val="003366"/>
                </a:solidFill>
                <a:latin typeface="Malgun Gothic"/>
              </a:defRPr>
            </a:pPr>
            <a:r>
              <a:t>트랜스포머 (Attention)</a:t>
            </a:r>
          </a:p>
        </p:txBody>
      </p:sp>
      <p:sp>
        <p:nvSpPr>
          <p:cNvPr id="7" name="TextBox 6"/>
          <p:cNvSpPr txBox="1"/>
          <p:nvPr/>
        </p:nvSpPr>
        <p:spPr>
          <a:xfrm>
            <a:off x="4754880" y="1920240"/>
            <a:ext cx="4114800" cy="4114800"/>
          </a:xfrm>
          <a:prstGeom prst="rect">
            <a:avLst/>
          </a:prstGeom>
          <a:noFill/>
        </p:spPr>
        <p:txBody>
          <a:bodyPr wrap="square">
            <a:spAutoFit/>
          </a:bodyPr>
          <a:lstStyle/>
          <a:p>
            <a:pPr>
              <a:spcAft>
                <a:spcPts val="800"/>
              </a:spcAft>
              <a:defRPr sz="1400">
                <a:solidFill>
                  <a:srgbClr val="333333"/>
                </a:solidFill>
                <a:latin typeface="Malgun Gothic"/>
              </a:defRPr>
            </a:pPr>
            <a:r>
              <a:t>• 모든 단어를 한꺼번에 펼쳐놓고 처리</a:t>
            </a:r>
          </a:p>
          <a:p>
            <a:pPr>
              <a:spcAft>
                <a:spcPts val="800"/>
              </a:spcAft>
              <a:defRPr sz="1400">
                <a:solidFill>
                  <a:srgbClr val="333333"/>
                </a:solidFill>
                <a:latin typeface="Malgun Gothic"/>
              </a:defRPr>
            </a:pPr>
            <a:r>
              <a:t>• 특정 단어가 다른 단어와 어떤 관계인지 훑어봄</a:t>
            </a:r>
          </a:p>
          <a:p>
            <a:pPr>
              <a:spcAft>
                <a:spcPts val="800"/>
              </a:spcAft>
              <a:defRPr sz="1400">
                <a:solidFill>
                  <a:srgbClr val="333333"/>
                </a:solidFill>
                <a:latin typeface="Malgun Gothic"/>
              </a:defRPr>
            </a:pPr>
            <a:r>
              <a:t>• 인간이 복잡한 도면을 볼 때 시선 고정하는 것과 유사</a:t>
            </a:r>
          </a:p>
          <a:p>
            <a:pPr>
              <a:spcAft>
                <a:spcPts val="800"/>
              </a:spcAft>
              <a:defRPr sz="1400">
                <a:solidFill>
                  <a:srgbClr val="333333"/>
                </a:solidFill>
                <a:latin typeface="Malgun Gothic"/>
              </a:defRPr>
            </a:pPr>
            <a:r>
              <a:t>• 병렬적 집중 방식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자원의 효율적 배분: 인간과 AI의 공통 과제</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Attention = Weight (가중치): 심리학의 인지 자원 이론</a:t>
            </a:r>
          </a:p>
          <a:p>
            <a:pPr>
              <a:spcAft>
                <a:spcPts val="1400"/>
              </a:spcAft>
              <a:defRPr sz="2000">
                <a:solidFill>
                  <a:srgbClr val="333333"/>
                </a:solidFill>
                <a:latin typeface="Malgun Gothic"/>
              </a:defRPr>
            </a:pPr>
            <a:r>
              <a:t>• AI 역시 연산 자원(Compute)이 한정되어 있음</a:t>
            </a:r>
          </a:p>
          <a:p>
            <a:pPr>
              <a:spcAft>
                <a:spcPts val="1400"/>
              </a:spcAft>
              <a:defRPr sz="2000">
                <a:solidFill>
                  <a:srgbClr val="333333"/>
                </a:solidFill>
                <a:latin typeface="Malgun Gothic"/>
              </a:defRPr>
            </a:pPr>
            <a:r>
              <a:t>• AI가 똑똑해진 비결은 연산량 증가가 아님</a:t>
            </a:r>
          </a:p>
          <a:p>
            <a:pPr>
              <a:spcAft>
                <a:spcPts val="1400"/>
              </a:spcAft>
              <a:defRPr sz="2000">
                <a:solidFill>
                  <a:srgbClr val="333333"/>
                </a:solidFill>
                <a:latin typeface="Malgun Gothic"/>
              </a:defRPr>
            </a:pPr>
            <a:r>
              <a:t>• "어디에 자원을 집중해야 할지"를 스스로 학습했기 때문</a:t>
            </a:r>
          </a:p>
          <a:p>
            <a:pPr>
              <a:spcAft>
                <a:spcPts val="1400"/>
              </a:spcAft>
              <a:defRPr sz="2000">
                <a:solidFill>
                  <a:srgbClr val="333333"/>
                </a:solidFill>
                <a:latin typeface="Malgun Gothic"/>
              </a:defRPr>
            </a:pPr>
            <a:r>
              <a:t>• 제한된 공간 내에서 정보의 밀도와 순도를 높이는 것이 핵심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인간의 인지 전략 → LLM 컨텍스트 관리</a:t>
            </a:r>
          </a:p>
        </p:txBody>
      </p:sp>
      <p:graphicFrame>
        <p:nvGraphicFramePr>
          <p:cNvPr id="4" name="Table 3"/>
          <p:cNvGraphicFramePr>
            <a:graphicFrameLocks noGrp="1"/>
          </p:cNvGraphicFramePr>
          <p:nvPr/>
        </p:nvGraphicFramePr>
        <p:xfrm>
          <a:off x="457200" y="1645920"/>
          <a:ext cx="8229600" cy="4114800"/>
        </p:xfrm>
        <a:graphic>
          <a:graphicData uri="http://schemas.openxmlformats.org/drawingml/2006/table">
            <a:tbl>
              <a:tblPr firstRow="1" bandRow="1">
                <a:tableStyleId>{5C22544A-7EE6-4342-B048-85BDC9FD1C3A}</a:tableStyleId>
              </a:tblPr>
              <a:tblGrid>
                <a:gridCol w="2743200"/>
                <a:gridCol w="2743200"/>
                <a:gridCol w="2743200"/>
              </a:tblGrid>
              <a:tr h="822960">
                <a:tc>
                  <a:txBody>
                    <a:bodyPr/>
                    <a:lstStyle/>
                    <a:p>
                      <a:pPr algn="ctr">
                        <a:defRPr sz="1400" b="1">
                          <a:solidFill>
                            <a:srgbClr val="FFFFFF"/>
                          </a:solidFill>
                          <a:latin typeface="Malgun Gothic"/>
                        </a:defRPr>
                      </a:pPr>
                      <a:r>
                        <a:t>인간의 전략</a:t>
                      </a:r>
                    </a:p>
                  </a:txBody>
                  <a:tcPr>
                    <a:solidFill>
                      <a:srgbClr val="003366"/>
                    </a:solidFill>
                  </a:tcPr>
                </a:tc>
                <a:tc>
                  <a:txBody>
                    <a:bodyPr/>
                    <a:lstStyle/>
                    <a:p>
                      <a:pPr algn="ctr">
                        <a:defRPr sz="1400" b="1">
                          <a:solidFill>
                            <a:srgbClr val="FFFFFF"/>
                          </a:solidFill>
                          <a:latin typeface="Malgun Gothic"/>
                        </a:defRPr>
                      </a:pPr>
                      <a:r>
                        <a:t>LLM 기법</a:t>
                      </a:r>
                    </a:p>
                  </a:txBody>
                  <a:tcPr>
                    <a:solidFill>
                      <a:srgbClr val="003366"/>
                    </a:solidFill>
                  </a:tcPr>
                </a:tc>
                <a:tc>
                  <a:txBody>
                    <a:bodyPr/>
                    <a:lstStyle/>
                    <a:p>
                      <a:pPr algn="ctr">
                        <a:defRPr sz="1400" b="1">
                          <a:solidFill>
                            <a:srgbClr val="FFFFFF"/>
                          </a:solidFill>
                          <a:latin typeface="Malgun Gothic"/>
                        </a:defRPr>
                      </a:pPr>
                      <a:r>
                        <a:t>핵심 목표</a:t>
                      </a:r>
                    </a:p>
                  </a:txBody>
                  <a:tcPr>
                    <a:solidFill>
                      <a:srgbClr val="003366"/>
                    </a:solidFill>
                  </a:tcPr>
                </a:tc>
              </a:tr>
              <a:tr h="822960">
                <a:tc>
                  <a:txBody>
                    <a:bodyPr/>
                    <a:lstStyle/>
                    <a:p>
                      <a:pPr algn="ctr">
                        <a:defRPr sz="1100">
                          <a:solidFill>
                            <a:srgbClr val="333333"/>
                          </a:solidFill>
                          <a:latin typeface="Malgun Gothic"/>
                        </a:defRPr>
                      </a:pPr>
                      <a:r>
                        <a:t>연관짓기 (Association)</a:t>
                      </a:r>
                    </a:p>
                  </a:txBody>
                  <a:tcPr/>
                </a:tc>
                <a:tc>
                  <a:txBody>
                    <a:bodyPr/>
                    <a:lstStyle/>
                    <a:p>
                      <a:pPr algn="ctr">
                        <a:defRPr sz="1100">
                          <a:solidFill>
                            <a:srgbClr val="333333"/>
                          </a:solidFill>
                          <a:latin typeface="Malgun Gothic"/>
                        </a:defRPr>
                      </a:pPr>
                      <a:r>
                        <a:t>RAG, 벡터 데이터베이스</a:t>
                      </a:r>
                    </a:p>
                  </a:txBody>
                  <a:tcPr/>
                </a:tc>
                <a:tc>
                  <a:txBody>
                    <a:bodyPr/>
                    <a:lstStyle/>
                    <a:p>
                      <a:pPr algn="ctr">
                        <a:defRPr sz="1100">
                          <a:solidFill>
                            <a:srgbClr val="333333"/>
                          </a:solidFill>
                          <a:latin typeface="Malgun Gothic"/>
                        </a:defRPr>
                      </a:pPr>
                      <a:r>
                        <a:t>관련성 높은 정보만 선별</a:t>
                      </a:r>
                    </a:p>
                  </a:txBody>
                  <a:tcPr/>
                </a:tc>
              </a:tr>
              <a:tr h="822960">
                <a:tc>
                  <a:txBody>
                    <a:bodyPr/>
                    <a:lstStyle/>
                    <a:p>
                      <a:pPr algn="ctr">
                        <a:defRPr sz="1100">
                          <a:solidFill>
                            <a:srgbClr val="333333"/>
                          </a:solidFill>
                          <a:latin typeface="Malgun Gothic"/>
                        </a:defRPr>
                      </a:pPr>
                      <a:r>
                        <a:t>의도적 회피/고립</a:t>
                      </a:r>
                    </a:p>
                  </a:txBody>
                  <a:tcPr/>
                </a:tc>
                <a:tc>
                  <a:txBody>
                    <a:bodyPr/>
                    <a:lstStyle/>
                    <a:p>
                      <a:pPr algn="ctr">
                        <a:defRPr sz="1100">
                          <a:solidFill>
                            <a:srgbClr val="333333"/>
                          </a:solidFill>
                          <a:latin typeface="Malgun Gothic"/>
                        </a:defRPr>
                      </a:pPr>
                      <a:r>
                        <a:t>프롬프트 압축, 페르소나 고립</a:t>
                      </a:r>
                    </a:p>
                  </a:txBody>
                  <a:tcPr/>
                </a:tc>
                <a:tc>
                  <a:txBody>
                    <a:bodyPr/>
                    <a:lstStyle/>
                    <a:p>
                      <a:pPr algn="ctr">
                        <a:defRPr sz="1100">
                          <a:solidFill>
                            <a:srgbClr val="333333"/>
                          </a:solidFill>
                          <a:latin typeface="Malgun Gothic"/>
                        </a:defRPr>
                      </a:pPr>
                      <a:r>
                        <a:t>불필요한 노이즈 차단</a:t>
                      </a:r>
                    </a:p>
                  </a:txBody>
                  <a:tcPr/>
                </a:tc>
              </a:tr>
              <a:tr h="822960">
                <a:tc>
                  <a:txBody>
                    <a:bodyPr/>
                    <a:lstStyle/>
                    <a:p>
                      <a:pPr algn="ctr">
                        <a:defRPr sz="1100">
                          <a:solidFill>
                            <a:srgbClr val="333333"/>
                          </a:solidFill>
                          <a:latin typeface="Malgun Gothic"/>
                        </a:defRPr>
                      </a:pPr>
                      <a:r>
                        <a:t>청킹 (Chunking)</a:t>
                      </a:r>
                    </a:p>
                  </a:txBody>
                  <a:tcPr/>
                </a:tc>
                <a:tc>
                  <a:txBody>
                    <a:bodyPr/>
                    <a:lstStyle/>
                    <a:p>
                      <a:pPr algn="ctr">
                        <a:defRPr sz="1100">
                          <a:solidFill>
                            <a:srgbClr val="333333"/>
                          </a:solidFill>
                          <a:latin typeface="Malgun Gothic"/>
                        </a:defRPr>
                      </a:pPr>
                      <a:r>
                        <a:t>텍스트 분할, 재귀적 요약</a:t>
                      </a:r>
                    </a:p>
                  </a:txBody>
                  <a:tcPr/>
                </a:tc>
                <a:tc>
                  <a:txBody>
                    <a:bodyPr/>
                    <a:lstStyle/>
                    <a:p>
                      <a:pPr algn="ctr">
                        <a:defRPr sz="1100">
                          <a:solidFill>
                            <a:srgbClr val="333333"/>
                          </a:solidFill>
                          <a:latin typeface="Malgun Gothic"/>
                        </a:defRPr>
                      </a:pPr>
                      <a:r>
                        <a:t>처리 가능한 단위로 구조화</a:t>
                      </a:r>
                    </a:p>
                  </a:txBody>
                  <a:tcPr/>
                </a:tc>
              </a:tr>
              <a:tr h="822960">
                <a:tc>
                  <a:txBody>
                    <a:bodyPr/>
                    <a:lstStyle/>
                    <a:p>
                      <a:pPr algn="ctr">
                        <a:defRPr sz="1100">
                          <a:solidFill>
                            <a:srgbClr val="333333"/>
                          </a:solidFill>
                          <a:latin typeface="Malgun Gothic"/>
                        </a:defRPr>
                      </a:pPr>
                      <a:r>
                        <a:t>외부 도구 활용</a:t>
                      </a:r>
                    </a:p>
                  </a:txBody>
                  <a:tcPr/>
                </a:tc>
                <a:tc>
                  <a:txBody>
                    <a:bodyPr/>
                    <a:lstStyle/>
                    <a:p>
                      <a:pPr algn="ctr">
                        <a:defRPr sz="1100">
                          <a:solidFill>
                            <a:srgbClr val="333333"/>
                          </a:solidFill>
                          <a:latin typeface="Malgun Gothic"/>
                        </a:defRPr>
                      </a:pPr>
                      <a:r>
                        <a:t>API 호출, 코드 실행</a:t>
                      </a:r>
                    </a:p>
                  </a:txBody>
                  <a:tcPr/>
                </a:tc>
                <a:tc>
                  <a:txBody>
                    <a:bodyPr/>
                    <a:lstStyle/>
                    <a:p>
                      <a:pPr algn="ctr">
                        <a:defRPr sz="1100">
                          <a:solidFill>
                            <a:srgbClr val="333333"/>
                          </a:solidFill>
                          <a:latin typeface="Malgun Gothic"/>
                        </a:defRPr>
                      </a:pPr>
                      <a:r>
                        <a:t>복잡한 추론 부하 전가</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인지심리학 세션 정리</a:t>
            </a:r>
          </a:p>
        </p:txBody>
      </p:sp>
      <p:sp>
        <p:nvSpPr>
          <p:cNvPr id="4" name="TextBox 3"/>
          <p:cNvSpPr txBox="1"/>
          <p:nvPr/>
        </p:nvSpPr>
        <p:spPr>
          <a:xfrm>
            <a:off x="731520" y="1371600"/>
            <a:ext cx="7680960" cy="3200400"/>
          </a:xfrm>
          <a:prstGeom prst="rect">
            <a:avLst/>
          </a:prstGeom>
          <a:noFill/>
        </p:spPr>
        <p:txBody>
          <a:bodyPr wrap="square">
            <a:spAutoFit/>
          </a:bodyPr>
          <a:lstStyle/>
          <a:p>
            <a:pPr>
              <a:spcAft>
                <a:spcPts val="1200"/>
              </a:spcAft>
              <a:defRPr sz="1800">
                <a:solidFill>
                  <a:srgbClr val="333333"/>
                </a:solidFill>
                <a:latin typeface="Malgun Gothic"/>
              </a:defRPr>
            </a:pPr>
            <a:r>
              <a:t>✓ Attention은 생존 본능이자 AI의 핵심 메커니즘</a:t>
            </a:r>
          </a:p>
          <a:p>
            <a:pPr>
              <a:spcAft>
                <a:spcPts val="1200"/>
              </a:spcAft>
              <a:defRPr sz="1800">
                <a:solidFill>
                  <a:srgbClr val="333333"/>
                </a:solidFill>
                <a:latin typeface="Malgun Gothic"/>
              </a:defRPr>
            </a:pPr>
            <a:r>
              <a:t>✓ Self-Attention은 병렬적 맥락 파악의 혁명</a:t>
            </a:r>
          </a:p>
          <a:p>
            <a:pPr>
              <a:spcAft>
                <a:spcPts val="1200"/>
              </a:spcAft>
              <a:defRPr sz="1800">
                <a:solidFill>
                  <a:srgbClr val="333333"/>
                </a:solidFill>
                <a:latin typeface="Malgun Gothic"/>
              </a:defRPr>
            </a:pPr>
            <a:r>
              <a:t>✓ 인지 자원 관리: 인간과 AI 모두 유한한 자원의 최적화가 필요</a:t>
            </a:r>
          </a:p>
          <a:p>
            <a:pPr>
              <a:spcAft>
                <a:spcPts val="1200"/>
              </a:spcAft>
              <a:defRPr sz="1800">
                <a:solidFill>
                  <a:srgbClr val="333333"/>
                </a:solidFill>
                <a:latin typeface="Malgun Gothic"/>
              </a:defRPr>
            </a:pPr>
            <a:r>
              <a:t>✓ RAG, 청킹, 프루닝은 인간의 인지 전략을 모방</a:t>
            </a:r>
          </a:p>
        </p:txBody>
      </p:sp>
      <p:sp>
        <p:nvSpPr>
          <p:cNvPr id="5" name="Rounded Rectangle 4"/>
          <p:cNvSpPr/>
          <p:nvPr/>
        </p:nvSpPr>
        <p:spPr>
          <a:xfrm>
            <a:off x="731520" y="4754880"/>
            <a:ext cx="7680960" cy="1371600"/>
          </a:xfrm>
          <a:prstGeom prst="roundRect">
            <a:avLst/>
          </a:prstGeom>
          <a:solidFill>
            <a:srgbClr val="666666"/>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FFFFF"/>
                </a:solidFill>
                <a:latin typeface="Malgun Gothic"/>
              </a:defRPr>
            </a:pPr>
            <a:r>
              <a:t>💡 결국 지능이란, 중요한 것을 골라내는 능력이다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4800" b="1">
                <a:solidFill>
                  <a:srgbClr val="FFFFFF"/>
                </a:solidFill>
                <a:latin typeface="Malgun Gothic"/>
              </a:defRPr>
            </a:pPr>
            <a:r>
              <a:t>세션 2: 지각심리학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착시에서 게슈탈트까지</a:t>
            </a:r>
          </a:p>
        </p:txBody>
      </p:sp>
      <p:sp>
        <p:nvSpPr>
          <p:cNvPr id="4" name="Rounded Rectangle 3"/>
          <p:cNvSpPr/>
          <p:nvPr/>
        </p:nvSpPr>
        <p:spPr>
          <a:xfrm>
            <a:off x="731520" y="1828800"/>
            <a:ext cx="7680960" cy="3200400"/>
          </a:xfrm>
          <a:prstGeom prst="roundRect">
            <a:avLst/>
          </a:prstGeom>
          <a:solidFill>
            <a:srgbClr val="F0F0F5"/>
          </a:solidFill>
          <a:ln w="254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i="1">
                <a:solidFill>
                  <a:srgbClr val="003366"/>
                </a:solidFill>
                <a:latin typeface="Malgun Gothic"/>
              </a:defRPr>
            </a:pPr>
            <a:r>
              <a:t>"당신이 보는 세상은 실제가 아닙니다. 당신의 뇌가 그럴듯하게 만들어낸 추측입니다."</a:t>
            </a:r>
          </a:p>
          <a:p>
            <a:br/>
            <a:pPr algn="r">
              <a:defRPr sz="1600">
                <a:solidFill>
                  <a:srgbClr val="666666"/>
                </a:solidFill>
                <a:latin typeface="Malgun Gothic"/>
              </a:defRPr>
            </a:pPr>
            <a:r>
              <a:t>— 지각심리학의 핵심 발견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게슈탈트 심리학: 전체는 부분의 합보다 크다</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근접성의 법칙: 가까운 것들은 하나의 그룹으로 인식</a:t>
            </a:r>
          </a:p>
          <a:p>
            <a:pPr>
              <a:spcAft>
                <a:spcPts val="1400"/>
              </a:spcAft>
              <a:defRPr sz="2000">
                <a:solidFill>
                  <a:srgbClr val="333333"/>
                </a:solidFill>
                <a:latin typeface="Malgun Gothic"/>
              </a:defRPr>
            </a:pPr>
            <a:r>
              <a:t>• 유사성의 법칙: 비슷한 것들은 같은 카테고리로 묶임</a:t>
            </a:r>
          </a:p>
          <a:p>
            <a:pPr>
              <a:spcAft>
                <a:spcPts val="1400"/>
              </a:spcAft>
              <a:defRPr sz="2000">
                <a:solidFill>
                  <a:srgbClr val="333333"/>
                </a:solidFill>
                <a:latin typeface="Malgun Gothic"/>
              </a:defRPr>
            </a:pPr>
            <a:r>
              <a:t>• 연속성의 법칙: 끊긴 선도 자연스러운 흐름으로 연결</a:t>
            </a:r>
          </a:p>
          <a:p>
            <a:pPr>
              <a:spcAft>
                <a:spcPts val="1400"/>
              </a:spcAft>
              <a:defRPr sz="2000">
                <a:solidFill>
                  <a:srgbClr val="333333"/>
                </a:solidFill>
                <a:latin typeface="Malgun Gothic"/>
              </a:defRPr>
            </a:pPr>
            <a:r>
              <a:t>• 폐쇄성의 법칙: 불완전한 형태도 완전한 형태로 인식</a:t>
            </a:r>
          </a:p>
          <a:p>
            <a:pPr>
              <a:spcAft>
                <a:spcPts val="1400"/>
              </a:spcAft>
              <a:defRPr sz="2000">
                <a:solidFill>
                  <a:srgbClr val="333333"/>
                </a:solidFill>
                <a:latin typeface="Malgun Gothic"/>
              </a:defRPr>
            </a:pPr>
            <a:r>
              <a:t>• 뇌는 단절을 용납하지 않음 → 정보 공백을 즉시 채움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맹점 채우기: 뇌의 일상적인 할루시네이션</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눈에는 맹점(Blind Spot)이 존재: 광수용체가 없는 영역</a:t>
            </a:r>
          </a:p>
          <a:p>
            <a:pPr>
              <a:spcAft>
                <a:spcPts val="1400"/>
              </a:spcAft>
              <a:defRPr sz="2000">
                <a:solidFill>
                  <a:srgbClr val="333333"/>
                </a:solidFill>
                <a:latin typeface="Malgun Gothic"/>
              </a:defRPr>
            </a:pPr>
            <a:r>
              <a:t>• 하지만 우리는 일상에서 이 구멍을 느끼지 못함</a:t>
            </a:r>
          </a:p>
          <a:p>
            <a:pPr>
              <a:spcAft>
                <a:spcPts val="1400"/>
              </a:spcAft>
              <a:defRPr sz="2000">
                <a:solidFill>
                  <a:srgbClr val="333333"/>
                </a:solidFill>
                <a:latin typeface="Malgun Gothic"/>
              </a:defRPr>
            </a:pPr>
            <a:r>
              <a:t>• 뇌는 주변 맥락을 바탕으로 통계적 추론으로 즉시 채움</a:t>
            </a:r>
          </a:p>
          <a:p>
            <a:pPr>
              <a:spcAft>
                <a:spcPts val="1400"/>
              </a:spcAft>
              <a:defRPr sz="2000">
                <a:solidFill>
                  <a:srgbClr val="333333"/>
                </a:solidFill>
                <a:latin typeface="Malgun Gothic"/>
              </a:defRPr>
            </a:pPr>
            <a:r>
              <a:t>• 이미지 인페인팅(Inpainting) 알고리즘과 동일한 원리</a:t>
            </a:r>
          </a:p>
          <a:p>
            <a:pPr>
              <a:spcAft>
                <a:spcPts val="1400"/>
              </a:spcAft>
              <a:defRPr sz="2000">
                <a:solidFill>
                  <a:srgbClr val="333333"/>
                </a:solidFill>
                <a:latin typeface="Malgun Gothic"/>
              </a:defRPr>
            </a:pPr>
            <a:r>
              <a:t>• 당신은 지금 이 순간에도 할루시네이션을 경험하고 있음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할루시네이션의 심리학적 재정의</a:t>
            </a:r>
          </a:p>
        </p:txBody>
      </p:sp>
      <p:sp>
        <p:nvSpPr>
          <p:cNvPr id="4" name="TextBox 3"/>
          <p:cNvSpPr txBox="1"/>
          <p:nvPr/>
        </p:nvSpPr>
        <p:spPr>
          <a:xfrm>
            <a:off x="457200" y="1371600"/>
            <a:ext cx="4114800" cy="457200"/>
          </a:xfrm>
          <a:prstGeom prst="rect">
            <a:avLst/>
          </a:prstGeom>
          <a:noFill/>
        </p:spPr>
        <p:txBody>
          <a:bodyPr wrap="none">
            <a:spAutoFit/>
          </a:bodyPr>
          <a:lstStyle/>
          <a:p>
            <a:pPr>
              <a:defRPr sz="1800" b="1">
                <a:solidFill>
                  <a:srgbClr val="003366"/>
                </a:solidFill>
                <a:latin typeface="Malgun Gothic"/>
              </a:defRPr>
            </a:pPr>
            <a:r>
              <a:t>인간의 지각</a:t>
            </a:r>
          </a:p>
        </p:txBody>
      </p:sp>
      <p:sp>
        <p:nvSpPr>
          <p:cNvPr id="5" name="TextBox 4"/>
          <p:cNvSpPr txBox="1"/>
          <p:nvPr/>
        </p:nvSpPr>
        <p:spPr>
          <a:xfrm>
            <a:off x="457200" y="1920240"/>
            <a:ext cx="4114800" cy="4114800"/>
          </a:xfrm>
          <a:prstGeom prst="rect">
            <a:avLst/>
          </a:prstGeom>
          <a:noFill/>
        </p:spPr>
        <p:txBody>
          <a:bodyPr wrap="square">
            <a:spAutoFit/>
          </a:bodyPr>
          <a:lstStyle/>
          <a:p>
            <a:pPr>
              <a:spcAft>
                <a:spcPts val="800"/>
              </a:spcAft>
              <a:defRPr sz="1400">
                <a:solidFill>
                  <a:srgbClr val="333333"/>
                </a:solidFill>
                <a:latin typeface="Malgun Gothic"/>
              </a:defRPr>
            </a:pPr>
            <a:r>
              <a:t>• 입력: 불완전한 시각 정보</a:t>
            </a:r>
          </a:p>
          <a:p>
            <a:pPr>
              <a:spcAft>
                <a:spcPts val="800"/>
              </a:spcAft>
              <a:defRPr sz="1400">
                <a:solidFill>
                  <a:srgbClr val="333333"/>
                </a:solidFill>
                <a:latin typeface="Malgun Gothic"/>
              </a:defRPr>
            </a:pPr>
            <a:r>
              <a:t>• 처리: 통계적 추론으로 공백 채우기</a:t>
            </a:r>
          </a:p>
          <a:p>
            <a:pPr>
              <a:spcAft>
                <a:spcPts val="800"/>
              </a:spcAft>
              <a:defRPr sz="1400">
                <a:solidFill>
                  <a:srgbClr val="333333"/>
                </a:solidFill>
                <a:latin typeface="Malgun Gothic"/>
              </a:defRPr>
            </a:pPr>
            <a:r>
              <a:t>• 결과: 매끄러운 시각 경험</a:t>
            </a:r>
          </a:p>
          <a:p>
            <a:pPr>
              <a:spcAft>
                <a:spcPts val="800"/>
              </a:spcAft>
              <a:defRPr sz="1400">
                <a:solidFill>
                  <a:srgbClr val="333333"/>
                </a:solidFill>
                <a:latin typeface="Malgun Gothic"/>
              </a:defRPr>
            </a:pPr>
            <a:r>
              <a:t>• 부작용: 착시, 오인</a:t>
            </a:r>
          </a:p>
        </p:txBody>
      </p:sp>
      <p:sp>
        <p:nvSpPr>
          <p:cNvPr id="6" name="TextBox 5"/>
          <p:cNvSpPr txBox="1"/>
          <p:nvPr/>
        </p:nvSpPr>
        <p:spPr>
          <a:xfrm>
            <a:off x="4754880" y="1371600"/>
            <a:ext cx="4114800" cy="457200"/>
          </a:xfrm>
          <a:prstGeom prst="rect">
            <a:avLst/>
          </a:prstGeom>
          <a:noFill/>
        </p:spPr>
        <p:txBody>
          <a:bodyPr wrap="none">
            <a:spAutoFit/>
          </a:bodyPr>
          <a:lstStyle/>
          <a:p>
            <a:pPr>
              <a:defRPr sz="1800" b="1">
                <a:solidFill>
                  <a:srgbClr val="003366"/>
                </a:solidFill>
                <a:latin typeface="Malgun Gothic"/>
              </a:defRPr>
            </a:pPr>
            <a:r>
              <a:t>AI의 생성</a:t>
            </a:r>
          </a:p>
        </p:txBody>
      </p:sp>
      <p:sp>
        <p:nvSpPr>
          <p:cNvPr id="7" name="TextBox 6"/>
          <p:cNvSpPr txBox="1"/>
          <p:nvPr/>
        </p:nvSpPr>
        <p:spPr>
          <a:xfrm>
            <a:off x="4754880" y="1920240"/>
            <a:ext cx="4114800" cy="4114800"/>
          </a:xfrm>
          <a:prstGeom prst="rect">
            <a:avLst/>
          </a:prstGeom>
          <a:noFill/>
        </p:spPr>
        <p:txBody>
          <a:bodyPr wrap="square">
            <a:spAutoFit/>
          </a:bodyPr>
          <a:lstStyle/>
          <a:p>
            <a:pPr>
              <a:spcAft>
                <a:spcPts val="800"/>
              </a:spcAft>
              <a:defRPr sz="1400">
                <a:solidFill>
                  <a:srgbClr val="333333"/>
                </a:solidFill>
                <a:latin typeface="Malgun Gothic"/>
              </a:defRPr>
            </a:pPr>
            <a:r>
              <a:t>• 입력: 불완전한 맥락/프롬프트</a:t>
            </a:r>
          </a:p>
          <a:p>
            <a:pPr>
              <a:spcAft>
                <a:spcPts val="800"/>
              </a:spcAft>
              <a:defRPr sz="1400">
                <a:solidFill>
                  <a:srgbClr val="333333"/>
                </a:solidFill>
                <a:latin typeface="Malgun Gothic"/>
              </a:defRPr>
            </a:pPr>
            <a:r>
              <a:t>• 처리: 확률적 토큰 예측</a:t>
            </a:r>
          </a:p>
          <a:p>
            <a:pPr>
              <a:spcAft>
                <a:spcPts val="800"/>
              </a:spcAft>
              <a:defRPr sz="1400">
                <a:solidFill>
                  <a:srgbClr val="333333"/>
                </a:solidFill>
                <a:latin typeface="Malgun Gothic"/>
              </a:defRPr>
            </a:pPr>
            <a:r>
              <a:t>• 결과: 문맥상 자연스러운 텍스트</a:t>
            </a:r>
          </a:p>
          <a:p>
            <a:pPr>
              <a:spcAft>
                <a:spcPts val="800"/>
              </a:spcAft>
              <a:defRPr sz="1400">
                <a:solidFill>
                  <a:srgbClr val="333333"/>
                </a:solidFill>
                <a:latin typeface="Malgun Gothic"/>
              </a:defRPr>
            </a:pPr>
            <a:r>
              <a:t>• 부작용: 사실과 다른 정보 생성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할루시네이션: 버그인가, 기능인가?</a:t>
            </a:r>
          </a:p>
        </p:txBody>
      </p:sp>
      <p:graphicFrame>
        <p:nvGraphicFramePr>
          <p:cNvPr id="4" name="Table 3"/>
          <p:cNvGraphicFramePr>
            <a:graphicFrameLocks noGrp="1"/>
          </p:cNvGraphicFramePr>
          <p:nvPr/>
        </p:nvGraphicFramePr>
        <p:xfrm>
          <a:off x="457200" y="1645920"/>
          <a:ext cx="8229600" cy="4114800"/>
        </p:xfrm>
        <a:graphic>
          <a:graphicData uri="http://schemas.openxmlformats.org/drawingml/2006/table">
            <a:tbl>
              <a:tblPr firstRow="1" bandRow="1">
                <a:tableStyleId>{5C22544A-7EE6-4342-B048-85BDC9FD1C3A}</a:tableStyleId>
              </a:tblPr>
              <a:tblGrid>
                <a:gridCol w="2057400"/>
                <a:gridCol w="2057400"/>
                <a:gridCol w="2057400"/>
                <a:gridCol w="2057400"/>
              </a:tblGrid>
              <a:tr h="822960">
                <a:tc>
                  <a:txBody>
                    <a:bodyPr/>
                    <a:lstStyle/>
                    <a:p>
                      <a:pPr algn="ctr">
                        <a:defRPr sz="1400" b="1">
                          <a:solidFill>
                            <a:srgbClr val="FFFFFF"/>
                          </a:solidFill>
                          <a:latin typeface="Malgun Gothic"/>
                        </a:defRPr>
                      </a:pPr>
                      <a:r>
                        <a:t>구분</a:t>
                      </a:r>
                    </a:p>
                  </a:txBody>
                  <a:tcPr>
                    <a:solidFill>
                      <a:srgbClr val="003366"/>
                    </a:solidFill>
                  </a:tcPr>
                </a:tc>
                <a:tc>
                  <a:txBody>
                    <a:bodyPr/>
                    <a:lstStyle/>
                    <a:p>
                      <a:pPr algn="ctr">
                        <a:defRPr sz="1400" b="1">
                          <a:solidFill>
                            <a:srgbClr val="FFFFFF"/>
                          </a:solidFill>
                          <a:latin typeface="Malgun Gothic"/>
                        </a:defRPr>
                      </a:pPr>
                      <a:r>
                        <a:t>순기능</a:t>
                      </a:r>
                    </a:p>
                  </a:txBody>
                  <a:tcPr>
                    <a:solidFill>
                      <a:srgbClr val="003366"/>
                    </a:solidFill>
                  </a:tcPr>
                </a:tc>
                <a:tc>
                  <a:txBody>
                    <a:bodyPr/>
                    <a:lstStyle/>
                    <a:p>
                      <a:pPr algn="ctr">
                        <a:defRPr sz="1400" b="1">
                          <a:solidFill>
                            <a:srgbClr val="FFFFFF"/>
                          </a:solidFill>
                          <a:latin typeface="Malgun Gothic"/>
                        </a:defRPr>
                      </a:pPr>
                      <a:r>
                        <a:t>역기능</a:t>
                      </a:r>
                    </a:p>
                  </a:txBody>
                  <a:tcPr>
                    <a:solidFill>
                      <a:srgbClr val="003366"/>
                    </a:solidFill>
                  </a:tcPr>
                </a:tc>
                <a:tc>
                  <a:txBody>
                    <a:bodyPr/>
                    <a:lstStyle/>
                    <a:p>
                      <a:pPr algn="ctr">
                        <a:defRPr sz="1400" b="1">
                          <a:solidFill>
                            <a:srgbClr val="FFFFFF"/>
                          </a:solidFill>
                          <a:latin typeface="Malgun Gothic"/>
                        </a:defRPr>
                      </a:pPr>
                      <a:r>
                        <a:t>활용 전략</a:t>
                      </a:r>
                    </a:p>
                  </a:txBody>
                  <a:tcPr>
                    <a:solidFill>
                      <a:srgbClr val="003366"/>
                    </a:solidFill>
                  </a:tcPr>
                </a:tc>
              </a:tr>
              <a:tr h="822960">
                <a:tc>
                  <a:txBody>
                    <a:bodyPr/>
                    <a:lstStyle/>
                    <a:p>
                      <a:pPr algn="ctr">
                        <a:defRPr sz="1100">
                          <a:solidFill>
                            <a:srgbClr val="333333"/>
                          </a:solidFill>
                          <a:latin typeface="Malgun Gothic"/>
                        </a:defRPr>
                      </a:pPr>
                      <a:r>
                        <a:t>창의적 작업</a:t>
                      </a:r>
                    </a:p>
                  </a:txBody>
                  <a:tcPr/>
                </a:tc>
                <a:tc>
                  <a:txBody>
                    <a:bodyPr/>
                    <a:lstStyle/>
                    <a:p>
                      <a:pPr algn="ctr">
                        <a:defRPr sz="1100">
                          <a:solidFill>
                            <a:srgbClr val="333333"/>
                          </a:solidFill>
                          <a:latin typeface="Malgun Gothic"/>
                        </a:defRPr>
                      </a:pPr>
                      <a:r>
                        <a:t>시나리오, 소설 구상</a:t>
                      </a:r>
                    </a:p>
                  </a:txBody>
                  <a:tcPr/>
                </a:tc>
                <a:tc>
                  <a:txBody>
                    <a:bodyPr/>
                    <a:lstStyle/>
                    <a:p>
                      <a:pPr algn="ctr">
                        <a:defRPr sz="1100">
                          <a:solidFill>
                            <a:srgbClr val="333333"/>
                          </a:solidFill>
                          <a:latin typeface="Malgun Gothic"/>
                        </a:defRPr>
                      </a:pPr>
                      <a:r>
                        <a:t>사실 왜곡</a:t>
                      </a:r>
                    </a:p>
                  </a:txBody>
                  <a:tcPr/>
                </a:tc>
                <a:tc>
                  <a:txBody>
                    <a:bodyPr/>
                    <a:lstStyle/>
                    <a:p>
                      <a:pPr algn="ctr">
                        <a:defRPr sz="1100">
                          <a:solidFill>
                            <a:srgbClr val="333333"/>
                          </a:solidFill>
                          <a:latin typeface="Malgun Gothic"/>
                        </a:defRPr>
                      </a:pPr>
                      <a:r>
                        <a:t>Temperature 높이기</a:t>
                      </a:r>
                    </a:p>
                  </a:txBody>
                  <a:tcPr/>
                </a:tc>
              </a:tr>
              <a:tr h="822960">
                <a:tc>
                  <a:txBody>
                    <a:bodyPr/>
                    <a:lstStyle/>
                    <a:p>
                      <a:pPr algn="ctr">
                        <a:defRPr sz="1100">
                          <a:solidFill>
                            <a:srgbClr val="333333"/>
                          </a:solidFill>
                          <a:latin typeface="Malgun Gothic"/>
                        </a:defRPr>
                      </a:pPr>
                      <a:r>
                        <a:t>브레인스토밍</a:t>
                      </a:r>
                    </a:p>
                  </a:txBody>
                  <a:tcPr/>
                </a:tc>
                <a:tc>
                  <a:txBody>
                    <a:bodyPr/>
                    <a:lstStyle/>
                    <a:p>
                      <a:pPr algn="ctr">
                        <a:defRPr sz="1100">
                          <a:solidFill>
                            <a:srgbClr val="333333"/>
                          </a:solidFill>
                          <a:latin typeface="Malgun Gothic"/>
                        </a:defRPr>
                      </a:pPr>
                      <a:r>
                        <a:t>새로운 아이디어 발산</a:t>
                      </a:r>
                    </a:p>
                  </a:txBody>
                  <a:tcPr/>
                </a:tc>
                <a:tc>
                  <a:txBody>
                    <a:bodyPr/>
                    <a:lstStyle/>
                    <a:p>
                      <a:pPr algn="ctr">
                        <a:defRPr sz="1100">
                          <a:solidFill>
                            <a:srgbClr val="333333"/>
                          </a:solidFill>
                          <a:latin typeface="Malgun Gothic"/>
                        </a:defRPr>
                      </a:pPr>
                      <a:r>
                        <a:t>오정보 확산</a:t>
                      </a:r>
                    </a:p>
                  </a:txBody>
                  <a:tcPr/>
                </a:tc>
                <a:tc>
                  <a:txBody>
                    <a:bodyPr/>
                    <a:lstStyle/>
                    <a:p>
                      <a:pPr algn="ctr">
                        <a:defRPr sz="1100">
                          <a:solidFill>
                            <a:srgbClr val="333333"/>
                          </a:solidFill>
                          <a:latin typeface="Malgun Gothic"/>
                        </a:defRPr>
                      </a:pPr>
                      <a:r>
                        <a:t>다양한 샘플링</a:t>
                      </a:r>
                    </a:p>
                  </a:txBody>
                  <a:tcPr/>
                </a:tc>
              </a:tr>
              <a:tr h="822960">
                <a:tc>
                  <a:txBody>
                    <a:bodyPr/>
                    <a:lstStyle/>
                    <a:p>
                      <a:pPr algn="ctr">
                        <a:defRPr sz="1100">
                          <a:solidFill>
                            <a:srgbClr val="333333"/>
                          </a:solidFill>
                          <a:latin typeface="Malgun Gothic"/>
                        </a:defRPr>
                      </a:pPr>
                      <a:r>
                        <a:t>가설 생성</a:t>
                      </a:r>
                    </a:p>
                  </a:txBody>
                  <a:tcPr/>
                </a:tc>
                <a:tc>
                  <a:txBody>
                    <a:bodyPr/>
                    <a:lstStyle/>
                    <a:p>
                      <a:pPr algn="ctr">
                        <a:defRPr sz="1100">
                          <a:solidFill>
                            <a:srgbClr val="333333"/>
                          </a:solidFill>
                          <a:latin typeface="Malgun Gothic"/>
                        </a:defRPr>
                      </a:pPr>
                      <a:r>
                        <a:t>과학적 탐구의 출발점</a:t>
                      </a:r>
                    </a:p>
                  </a:txBody>
                  <a:tcPr/>
                </a:tc>
                <a:tc>
                  <a:txBody>
                    <a:bodyPr/>
                    <a:lstStyle/>
                    <a:p>
                      <a:pPr algn="ctr">
                        <a:defRPr sz="1100">
                          <a:solidFill>
                            <a:srgbClr val="333333"/>
                          </a:solidFill>
                          <a:latin typeface="Malgun Gothic"/>
                        </a:defRPr>
                      </a:pPr>
                      <a:r>
                        <a:t>근거 없는 주장</a:t>
                      </a:r>
                    </a:p>
                  </a:txBody>
                  <a:tcPr/>
                </a:tc>
                <a:tc>
                  <a:txBody>
                    <a:bodyPr/>
                    <a:lstStyle/>
                    <a:p>
                      <a:pPr algn="ctr">
                        <a:defRPr sz="1100">
                          <a:solidFill>
                            <a:srgbClr val="333333"/>
                          </a:solidFill>
                          <a:latin typeface="Malgun Gothic"/>
                        </a:defRPr>
                      </a:pPr>
                      <a:r>
                        <a:t>검증 체인 구축</a:t>
                      </a:r>
                    </a:p>
                  </a:txBody>
                  <a:tcPr/>
                </a:tc>
              </a:tr>
              <a:tr h="822960">
                <a:tc>
                  <a:txBody>
                    <a:bodyPr/>
                    <a:lstStyle/>
                    <a:p>
                      <a:pPr algn="ctr">
                        <a:defRPr sz="1100">
                          <a:solidFill>
                            <a:srgbClr val="333333"/>
                          </a:solidFill>
                          <a:latin typeface="Malgun Gothic"/>
                        </a:defRPr>
                      </a:pPr>
                      <a:r>
                        <a:t>비유와 은유</a:t>
                      </a:r>
                    </a:p>
                  </a:txBody>
                  <a:tcPr/>
                </a:tc>
                <a:tc>
                  <a:txBody>
                    <a:bodyPr/>
                    <a:lstStyle/>
                    <a:p>
                      <a:pPr algn="ctr">
                        <a:defRPr sz="1100">
                          <a:solidFill>
                            <a:srgbClr val="333333"/>
                          </a:solidFill>
                          <a:latin typeface="Malgun Gothic"/>
                        </a:defRPr>
                      </a:pPr>
                      <a:r>
                        <a:t>소통의 풍부함</a:t>
                      </a:r>
                    </a:p>
                  </a:txBody>
                  <a:tcPr/>
                </a:tc>
                <a:tc>
                  <a:txBody>
                    <a:bodyPr/>
                    <a:lstStyle/>
                    <a:p>
                      <a:pPr algn="ctr">
                        <a:defRPr sz="1100">
                          <a:solidFill>
                            <a:srgbClr val="333333"/>
                          </a:solidFill>
                          <a:latin typeface="Malgun Gothic"/>
                        </a:defRPr>
                      </a:pPr>
                      <a:r>
                        <a:t>잘못된 비유</a:t>
                      </a:r>
                    </a:p>
                  </a:txBody>
                  <a:tcPr/>
                </a:tc>
                <a:tc>
                  <a:txBody>
                    <a:bodyPr/>
                    <a:lstStyle/>
                    <a:p>
                      <a:pPr algn="ctr">
                        <a:defRPr sz="1100">
                          <a:solidFill>
                            <a:srgbClr val="333333"/>
                          </a:solidFill>
                          <a:latin typeface="Malgun Gothic"/>
                        </a:defRPr>
                      </a:pPr>
                      <a:r>
                        <a:t>RAG 활용</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할루시네이션의 긍정적 측면</a:t>
            </a:r>
          </a:p>
        </p:txBody>
      </p:sp>
      <p:sp>
        <p:nvSpPr>
          <p:cNvPr id="4" name="Rounded Rectangle 3"/>
          <p:cNvSpPr/>
          <p:nvPr/>
        </p:nvSpPr>
        <p:spPr>
          <a:xfrm>
            <a:off x="731520" y="1828800"/>
            <a:ext cx="7680960" cy="3200400"/>
          </a:xfrm>
          <a:prstGeom prst="roundRect">
            <a:avLst/>
          </a:prstGeom>
          <a:solidFill>
            <a:srgbClr val="F0F0F5"/>
          </a:solidFill>
          <a:ln w="254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i="1">
                <a:solidFill>
                  <a:srgbClr val="003366"/>
                </a:solidFill>
                <a:latin typeface="Malgun Gothic"/>
              </a:defRPr>
            </a:pPr>
            <a:r>
              <a:t>"AI가 모든 사실을 정확히 말한다면, 그것은 백과사전 검색기에 불과합니다. 지능의 진정한 힘은 가능성의 공간을 탐색하는 데 있습니다."</a:t>
            </a:r>
          </a:p>
          <a:p>
            <a:br/>
            <a:pPr algn="r">
              <a:defRPr sz="1600">
                <a:solidFill>
                  <a:srgbClr val="666666"/>
                </a:solidFill>
                <a:latin typeface="Malgun Gothic"/>
              </a:defRPr>
            </a:pPr>
            <a:r>
              <a:t>— 생성적 AI의 잠재력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지각심리학 세션 정리</a:t>
            </a:r>
          </a:p>
        </p:txBody>
      </p:sp>
      <p:sp>
        <p:nvSpPr>
          <p:cNvPr id="4" name="TextBox 3"/>
          <p:cNvSpPr txBox="1"/>
          <p:nvPr/>
        </p:nvSpPr>
        <p:spPr>
          <a:xfrm>
            <a:off x="731520" y="1371600"/>
            <a:ext cx="7680960" cy="3200400"/>
          </a:xfrm>
          <a:prstGeom prst="rect">
            <a:avLst/>
          </a:prstGeom>
          <a:noFill/>
        </p:spPr>
        <p:txBody>
          <a:bodyPr wrap="square">
            <a:spAutoFit/>
          </a:bodyPr>
          <a:lstStyle/>
          <a:p>
            <a:pPr>
              <a:spcAft>
                <a:spcPts val="1200"/>
              </a:spcAft>
              <a:defRPr sz="1800">
                <a:solidFill>
                  <a:srgbClr val="333333"/>
                </a:solidFill>
                <a:latin typeface="Malgun Gothic"/>
              </a:defRPr>
            </a:pPr>
            <a:r>
              <a:t>✓ 뇌는 능동적인 예측 엔진: 단절된 정보를 완성도 있게 만듦</a:t>
            </a:r>
          </a:p>
          <a:p>
            <a:pPr>
              <a:spcAft>
                <a:spcPts val="1200"/>
              </a:spcAft>
              <a:defRPr sz="1800">
                <a:solidFill>
                  <a:srgbClr val="333333"/>
                </a:solidFill>
                <a:latin typeface="Malgun Gothic"/>
              </a:defRPr>
            </a:pPr>
            <a:r>
              <a:t>✓ 게슈탈트 원리: 인간은 의미 있는 전체 구조로 인식</a:t>
            </a:r>
          </a:p>
          <a:p>
            <a:pPr>
              <a:spcAft>
                <a:spcPts val="1200"/>
              </a:spcAft>
              <a:defRPr sz="1800">
                <a:solidFill>
                  <a:srgbClr val="333333"/>
                </a:solidFill>
                <a:latin typeface="Malgun Gothic"/>
              </a:defRPr>
            </a:pPr>
            <a:r>
              <a:t>✓ 맹점 채우기와 AI 할루시네이션은 동일 원리</a:t>
            </a:r>
          </a:p>
          <a:p>
            <a:pPr>
              <a:spcAft>
                <a:spcPts val="1200"/>
              </a:spcAft>
              <a:defRPr sz="1800">
                <a:solidFill>
                  <a:srgbClr val="333333"/>
                </a:solidFill>
                <a:latin typeface="Malgun Gothic"/>
              </a:defRPr>
            </a:pPr>
            <a:r>
              <a:t>✓ 할루시네이션은 오류가 아닌 지능의 적극적 적응 과정</a:t>
            </a:r>
          </a:p>
        </p:txBody>
      </p:sp>
      <p:sp>
        <p:nvSpPr>
          <p:cNvPr id="5" name="Rounded Rectangle 4"/>
          <p:cNvSpPr/>
          <p:nvPr/>
        </p:nvSpPr>
        <p:spPr>
          <a:xfrm>
            <a:off x="731520" y="4754880"/>
            <a:ext cx="7680960" cy="1371600"/>
          </a:xfrm>
          <a:prstGeom prst="roundRect">
            <a:avLst/>
          </a:prstGeom>
          <a:solidFill>
            <a:srgbClr val="666666"/>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FFFFF"/>
                </a:solidFill>
                <a:latin typeface="Malgun Gothic"/>
              </a:defRPr>
            </a:pPr>
            <a:r>
              <a:t>💡 우리가 할 일은 채우기 본능을 언제 발휘할지 결정하는 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4800" b="1">
                <a:solidFill>
                  <a:srgbClr val="FFFFFF"/>
                </a:solidFill>
                <a:latin typeface="Malgun Gothic"/>
              </a:defRPr>
            </a:pPr>
            <a:r>
              <a:t>세션 3: 정신병리학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파국화(Catastrophizing): 작은 오류의 거대한 증폭</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정신병리학의 파국화: 작은 오류가 논리적 단계를 거치며 파멸적 결론으로</a:t>
            </a:r>
          </a:p>
          <a:p>
            <a:pPr>
              <a:spcAft>
                <a:spcPts val="1400"/>
              </a:spcAft>
              <a:defRPr sz="2000">
                <a:solidFill>
                  <a:srgbClr val="333333"/>
                </a:solidFill>
                <a:latin typeface="Malgun Gothic"/>
              </a:defRPr>
            </a:pPr>
            <a:r>
              <a:t>• "오늘 실수를 했다 → 상사가 나를 싫어할 것 → 해고 → 인생 망했다"</a:t>
            </a:r>
          </a:p>
          <a:p>
            <a:pPr>
              <a:spcAft>
                <a:spcPts val="1400"/>
              </a:spcAft>
              <a:defRPr sz="2000">
                <a:solidFill>
                  <a:srgbClr val="333333"/>
                </a:solidFill>
                <a:latin typeface="Malgun Gothic"/>
              </a:defRPr>
            </a:pPr>
            <a:r>
              <a:t>• 각 단계는 이전 단계의 왜곡된 결론을 사실로 전제</a:t>
            </a:r>
          </a:p>
          <a:p>
            <a:pPr>
              <a:spcAft>
                <a:spcPts val="1400"/>
              </a:spcAft>
              <a:defRPr sz="2000">
                <a:solidFill>
                  <a:srgbClr val="333333"/>
                </a:solidFill>
                <a:latin typeface="Malgun Gothic"/>
              </a:defRPr>
            </a:pPr>
            <a:r>
              <a:t>• AI의 CoT 실패: 초기 토큰의 오류가 논리적 표류(Reasoning Drift)로</a:t>
            </a:r>
          </a:p>
          <a:p>
            <a:pPr>
              <a:spcAft>
                <a:spcPts val="1400"/>
              </a:spcAft>
              <a:defRPr sz="2000">
                <a:solidFill>
                  <a:srgbClr val="333333"/>
                </a:solidFill>
                <a:latin typeface="Malgun Gothic"/>
              </a:defRPr>
            </a:pPr>
            <a:r>
              <a:t>• 첫 번째 도미노가 넘어지면 뒤따르는 모든 논리가 오류를 정당화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내부 정합성의 함정</a:t>
            </a:r>
          </a:p>
        </p:txBody>
      </p:sp>
      <p:sp>
        <p:nvSpPr>
          <p:cNvPr id="4" name="TextBox 3"/>
          <p:cNvSpPr txBox="1"/>
          <p:nvPr/>
        </p:nvSpPr>
        <p:spPr>
          <a:xfrm>
            <a:off x="457200" y="1371600"/>
            <a:ext cx="4114800" cy="457200"/>
          </a:xfrm>
          <a:prstGeom prst="rect">
            <a:avLst/>
          </a:prstGeom>
          <a:noFill/>
        </p:spPr>
        <p:txBody>
          <a:bodyPr wrap="none">
            <a:spAutoFit/>
          </a:bodyPr>
          <a:lstStyle/>
          <a:p>
            <a:pPr>
              <a:defRPr sz="1800" b="1">
                <a:solidFill>
                  <a:srgbClr val="003366"/>
                </a:solidFill>
                <a:latin typeface="Malgun Gothic"/>
              </a:defRPr>
            </a:pPr>
            <a:r>
              <a:t>인간의 파국화</a:t>
            </a:r>
          </a:p>
        </p:txBody>
      </p:sp>
      <p:sp>
        <p:nvSpPr>
          <p:cNvPr id="5" name="TextBox 4"/>
          <p:cNvSpPr txBox="1"/>
          <p:nvPr/>
        </p:nvSpPr>
        <p:spPr>
          <a:xfrm>
            <a:off x="457200" y="1920240"/>
            <a:ext cx="4114800" cy="4114800"/>
          </a:xfrm>
          <a:prstGeom prst="rect">
            <a:avLst/>
          </a:prstGeom>
          <a:noFill/>
        </p:spPr>
        <p:txBody>
          <a:bodyPr wrap="square">
            <a:spAutoFit/>
          </a:bodyPr>
          <a:lstStyle/>
          <a:p>
            <a:pPr>
              <a:spcAft>
                <a:spcPts val="800"/>
              </a:spcAft>
              <a:defRPr sz="1400">
                <a:solidFill>
                  <a:srgbClr val="333333"/>
                </a:solidFill>
                <a:latin typeface="Malgun Gothic"/>
              </a:defRPr>
            </a:pPr>
            <a:r>
              <a:t>• 외부인에게는 비약으로 보임</a:t>
            </a:r>
          </a:p>
          <a:p>
            <a:pPr>
              <a:spcAft>
                <a:spcPts val="800"/>
              </a:spcAft>
              <a:defRPr sz="1400">
                <a:solidFill>
                  <a:srgbClr val="333333"/>
                </a:solidFill>
                <a:latin typeface="Malgun Gothic"/>
              </a:defRPr>
            </a:pPr>
            <a:r>
              <a:t>• 당사자에게는 필연적이고 개연성 있음</a:t>
            </a:r>
          </a:p>
          <a:p>
            <a:pPr>
              <a:spcAft>
                <a:spcPts val="800"/>
              </a:spcAft>
              <a:defRPr sz="1400">
                <a:solidFill>
                  <a:srgbClr val="333333"/>
                </a:solidFill>
                <a:latin typeface="Malgun Gothic"/>
              </a:defRPr>
            </a:pPr>
            <a:r>
              <a:t>• "해고당하면 돈이 없으니 굶는 게 당연하잖아?"</a:t>
            </a:r>
          </a:p>
          <a:p>
            <a:pPr>
              <a:spcAft>
                <a:spcPts val="800"/>
              </a:spcAft>
              <a:defRPr sz="1400">
                <a:solidFill>
                  <a:srgbClr val="333333"/>
                </a:solidFill>
                <a:latin typeface="Malgun Gothic"/>
              </a:defRPr>
            </a:pPr>
            <a:r>
              <a:t>• 자기 내부의 논리적 흐름을 우선시</a:t>
            </a:r>
          </a:p>
        </p:txBody>
      </p:sp>
      <p:sp>
        <p:nvSpPr>
          <p:cNvPr id="6" name="TextBox 5"/>
          <p:cNvSpPr txBox="1"/>
          <p:nvPr/>
        </p:nvSpPr>
        <p:spPr>
          <a:xfrm>
            <a:off x="4754880" y="1371600"/>
            <a:ext cx="4114800" cy="457200"/>
          </a:xfrm>
          <a:prstGeom prst="rect">
            <a:avLst/>
          </a:prstGeom>
          <a:noFill/>
        </p:spPr>
        <p:txBody>
          <a:bodyPr wrap="none">
            <a:spAutoFit/>
          </a:bodyPr>
          <a:lstStyle/>
          <a:p>
            <a:pPr>
              <a:defRPr sz="1800" b="1">
                <a:solidFill>
                  <a:srgbClr val="003366"/>
                </a:solidFill>
                <a:latin typeface="Malgun Gothic"/>
              </a:defRPr>
            </a:pPr>
            <a:r>
              <a:t>AI의 CoT 실패</a:t>
            </a:r>
          </a:p>
        </p:txBody>
      </p:sp>
      <p:sp>
        <p:nvSpPr>
          <p:cNvPr id="7" name="TextBox 6"/>
          <p:cNvSpPr txBox="1"/>
          <p:nvPr/>
        </p:nvSpPr>
        <p:spPr>
          <a:xfrm>
            <a:off x="4754880" y="1920240"/>
            <a:ext cx="4114800" cy="4114800"/>
          </a:xfrm>
          <a:prstGeom prst="rect">
            <a:avLst/>
          </a:prstGeom>
          <a:noFill/>
        </p:spPr>
        <p:txBody>
          <a:bodyPr wrap="square">
            <a:spAutoFit/>
          </a:bodyPr>
          <a:lstStyle/>
          <a:p>
            <a:pPr>
              <a:spcAft>
                <a:spcPts val="800"/>
              </a:spcAft>
              <a:defRPr sz="1400">
                <a:solidFill>
                  <a:srgbClr val="333333"/>
                </a:solidFill>
                <a:latin typeface="Malgun Gothic"/>
              </a:defRPr>
            </a:pPr>
            <a:r>
              <a:t>• 이전 틀린 문맥 안에서 그럴듯한 답변</a:t>
            </a:r>
          </a:p>
          <a:p>
            <a:pPr>
              <a:spcAft>
                <a:spcPts val="800"/>
              </a:spcAft>
              <a:defRPr sz="1400">
                <a:solidFill>
                  <a:srgbClr val="333333"/>
                </a:solidFill>
                <a:latin typeface="Malgun Gothic"/>
              </a:defRPr>
            </a:pPr>
            <a:r>
              <a:t>• 스스로 낸 오답에 확증 편향</a:t>
            </a:r>
          </a:p>
          <a:p>
            <a:pPr>
              <a:spcAft>
                <a:spcPts val="800"/>
              </a:spcAft>
              <a:defRPr sz="1400">
                <a:solidFill>
                  <a:srgbClr val="333333"/>
                </a:solidFill>
                <a:latin typeface="Malgun Gothic"/>
              </a:defRPr>
            </a:pPr>
            <a:r>
              <a:t>• 한 방향으로만 흐르는 Autoregressive 특성</a:t>
            </a:r>
          </a:p>
          <a:p>
            <a:pPr>
              <a:spcAft>
                <a:spcPts val="800"/>
              </a:spcAft>
              <a:defRPr sz="1400">
                <a:solidFill>
                  <a:srgbClr val="333333"/>
                </a:solidFill>
                <a:latin typeface="Malgun Gothic"/>
              </a:defRPr>
            </a:pPr>
            <a:r>
              <a:t>• 외부 객관적 사실보다 내부 논리 우선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파국화 vs CoT 실패 비교</a:t>
            </a:r>
          </a:p>
        </p:txBody>
      </p:sp>
      <p:graphicFrame>
        <p:nvGraphicFramePr>
          <p:cNvPr id="4" name="Table 3"/>
          <p:cNvGraphicFramePr>
            <a:graphicFrameLocks noGrp="1"/>
          </p:cNvGraphicFramePr>
          <p:nvPr/>
        </p:nvGraphicFramePr>
        <p:xfrm>
          <a:off x="457200" y="1645920"/>
          <a:ext cx="8229600" cy="4114800"/>
        </p:xfrm>
        <a:graphic>
          <a:graphicData uri="http://schemas.openxmlformats.org/drawingml/2006/table">
            <a:tbl>
              <a:tblPr firstRow="1" bandRow="1">
                <a:tableStyleId>{5C22544A-7EE6-4342-B048-85BDC9FD1C3A}</a:tableStyleId>
              </a:tblPr>
              <a:tblGrid>
                <a:gridCol w="2743200"/>
                <a:gridCol w="2743200"/>
                <a:gridCol w="2743200"/>
              </a:tblGrid>
              <a:tr h="822960">
                <a:tc>
                  <a:txBody>
                    <a:bodyPr/>
                    <a:lstStyle/>
                    <a:p>
                      <a:pPr algn="ctr">
                        <a:defRPr sz="1400" b="1">
                          <a:solidFill>
                            <a:srgbClr val="FFFFFF"/>
                          </a:solidFill>
                          <a:latin typeface="Malgun Gothic"/>
                        </a:defRPr>
                      </a:pPr>
                      <a:r>
                        <a:t>비교 항목</a:t>
                      </a:r>
                    </a:p>
                  </a:txBody>
                  <a:tcPr>
                    <a:solidFill>
                      <a:srgbClr val="003366"/>
                    </a:solidFill>
                  </a:tcPr>
                </a:tc>
                <a:tc>
                  <a:txBody>
                    <a:bodyPr/>
                    <a:lstStyle/>
                    <a:p>
                      <a:pPr algn="ctr">
                        <a:defRPr sz="1400" b="1">
                          <a:solidFill>
                            <a:srgbClr val="FFFFFF"/>
                          </a:solidFill>
                          <a:latin typeface="Malgun Gothic"/>
                        </a:defRPr>
                      </a:pPr>
                      <a:r>
                        <a:t>정신병리학: 파국화</a:t>
                      </a:r>
                    </a:p>
                  </a:txBody>
                  <a:tcPr>
                    <a:solidFill>
                      <a:srgbClr val="003366"/>
                    </a:solidFill>
                  </a:tcPr>
                </a:tc>
                <a:tc>
                  <a:txBody>
                    <a:bodyPr/>
                    <a:lstStyle/>
                    <a:p>
                      <a:pPr algn="ctr">
                        <a:defRPr sz="1400" b="1">
                          <a:solidFill>
                            <a:srgbClr val="FFFFFF"/>
                          </a:solidFill>
                          <a:latin typeface="Malgun Gothic"/>
                        </a:defRPr>
                      </a:pPr>
                      <a:r>
                        <a:t>AI 추론: CoT 실패</a:t>
                      </a:r>
                    </a:p>
                  </a:txBody>
                  <a:tcPr>
                    <a:solidFill>
                      <a:srgbClr val="003366"/>
                    </a:solidFill>
                  </a:tcPr>
                </a:tc>
              </a:tr>
              <a:tr h="822960">
                <a:tc>
                  <a:txBody>
                    <a:bodyPr/>
                    <a:lstStyle/>
                    <a:p>
                      <a:pPr algn="ctr">
                        <a:defRPr sz="1100">
                          <a:solidFill>
                            <a:srgbClr val="333333"/>
                          </a:solidFill>
                          <a:latin typeface="Malgun Gothic"/>
                        </a:defRPr>
                      </a:pPr>
                      <a:r>
                        <a:t>원인</a:t>
                      </a:r>
                    </a:p>
                  </a:txBody>
                  <a:tcPr/>
                </a:tc>
                <a:tc>
                  <a:txBody>
                    <a:bodyPr/>
                    <a:lstStyle/>
                    <a:p>
                      <a:pPr algn="ctr">
                        <a:defRPr sz="1100">
                          <a:solidFill>
                            <a:srgbClr val="333333"/>
                          </a:solidFill>
                          <a:latin typeface="Malgun Gothic"/>
                        </a:defRPr>
                      </a:pPr>
                      <a:r>
                        <a:t>불안에 의한 부정적 편향</a:t>
                      </a:r>
                    </a:p>
                  </a:txBody>
                  <a:tcPr/>
                </a:tc>
                <a:tc>
                  <a:txBody>
                    <a:bodyPr/>
                    <a:lstStyle/>
                    <a:p>
                      <a:pPr algn="ctr">
                        <a:defRPr sz="1100">
                          <a:solidFill>
                            <a:srgbClr val="333333"/>
                          </a:solidFill>
                          <a:latin typeface="Malgun Gothic"/>
                        </a:defRPr>
                      </a:pPr>
                      <a:r>
                        <a:t>초기 토큰의 낮은 확률적 정확도</a:t>
                      </a:r>
                    </a:p>
                  </a:txBody>
                  <a:tcPr/>
                </a:tc>
              </a:tr>
              <a:tr h="822960">
                <a:tc>
                  <a:txBody>
                    <a:bodyPr/>
                    <a:lstStyle/>
                    <a:p>
                      <a:pPr algn="ctr">
                        <a:defRPr sz="1100">
                          <a:solidFill>
                            <a:srgbClr val="333333"/>
                          </a:solidFill>
                          <a:latin typeface="Malgun Gothic"/>
                        </a:defRPr>
                      </a:pPr>
                      <a:r>
                        <a:t>과정</a:t>
                      </a:r>
                    </a:p>
                  </a:txBody>
                  <a:tcPr/>
                </a:tc>
                <a:tc>
                  <a:txBody>
                    <a:bodyPr/>
                    <a:lstStyle/>
                    <a:p>
                      <a:pPr algn="ctr">
                        <a:defRPr sz="1100">
                          <a:solidFill>
                            <a:srgbClr val="333333"/>
                          </a:solidFill>
                          <a:latin typeface="Malgun Gothic"/>
                        </a:defRPr>
                      </a:pPr>
                      <a:r>
                        <a:t>"만약 ~라면?"의 비극적 연쇄</a:t>
                      </a:r>
                    </a:p>
                  </a:txBody>
                  <a:tcPr/>
                </a:tc>
                <a:tc>
                  <a:txBody>
                    <a:bodyPr/>
                    <a:lstStyle/>
                    <a:p>
                      <a:pPr algn="ctr">
                        <a:defRPr sz="1100">
                          <a:solidFill>
                            <a:srgbClr val="333333"/>
                          </a:solidFill>
                          <a:latin typeface="Malgun Gothic"/>
                        </a:defRPr>
                      </a:pPr>
                      <a:r>
                        <a:t>"Step-by-step"의 논리적 오염</a:t>
                      </a:r>
                    </a:p>
                  </a:txBody>
                  <a:tcPr/>
                </a:tc>
              </a:tr>
              <a:tr h="822960">
                <a:tc>
                  <a:txBody>
                    <a:bodyPr/>
                    <a:lstStyle/>
                    <a:p>
                      <a:pPr algn="ctr">
                        <a:defRPr sz="1100">
                          <a:solidFill>
                            <a:srgbClr val="333333"/>
                          </a:solidFill>
                          <a:latin typeface="Malgun Gothic"/>
                        </a:defRPr>
                      </a:pPr>
                      <a:r>
                        <a:t>결과</a:t>
                      </a:r>
                    </a:p>
                  </a:txBody>
                  <a:tcPr/>
                </a:tc>
                <a:tc>
                  <a:txBody>
                    <a:bodyPr/>
                    <a:lstStyle/>
                    <a:p>
                      <a:pPr algn="ctr">
                        <a:defRPr sz="1100">
                          <a:solidFill>
                            <a:srgbClr val="333333"/>
                          </a:solidFill>
                          <a:latin typeface="Malgun Gothic"/>
                        </a:defRPr>
                      </a:pPr>
                      <a:r>
                        <a:t>극단적 비관례 (인생 파멸)</a:t>
                      </a:r>
                    </a:p>
                  </a:txBody>
                  <a:tcPr/>
                </a:tc>
                <a:tc>
                  <a:txBody>
                    <a:bodyPr/>
                    <a:lstStyle/>
                    <a:p>
                      <a:pPr algn="ctr">
                        <a:defRPr sz="1100">
                          <a:solidFill>
                            <a:srgbClr val="333333"/>
                          </a:solidFill>
                          <a:latin typeface="Malgun Gothic"/>
                        </a:defRPr>
                      </a:pPr>
                      <a:r>
                        <a:t>어처구니없는 오답 (할루시네이션)</a:t>
                      </a:r>
                    </a:p>
                  </a:txBody>
                  <a:tcPr/>
                </a:tc>
              </a:tr>
              <a:tr h="822960">
                <a:tc>
                  <a:txBody>
                    <a:bodyPr/>
                    <a:lstStyle/>
                    <a:p>
                      <a:pPr algn="ctr">
                        <a:defRPr sz="1100">
                          <a:solidFill>
                            <a:srgbClr val="333333"/>
                          </a:solidFill>
                          <a:latin typeface="Malgun Gothic"/>
                        </a:defRPr>
                      </a:pPr>
                      <a:r>
                        <a:t>해결</a:t>
                      </a:r>
                    </a:p>
                  </a:txBody>
                  <a:tcPr/>
                </a:tc>
                <a:tc>
                  <a:txBody>
                    <a:bodyPr/>
                    <a:lstStyle/>
                    <a:p>
                      <a:pPr algn="ctr">
                        <a:defRPr sz="1100">
                          <a:solidFill>
                            <a:srgbClr val="333333"/>
                          </a:solidFill>
                          <a:latin typeface="Malgun Gothic"/>
                        </a:defRPr>
                      </a:pPr>
                      <a:r>
                        <a:t>CBT, 메타인지 훈련</a:t>
                      </a:r>
                    </a:p>
                  </a:txBody>
                  <a:tcPr/>
                </a:tc>
                <a:tc>
                  <a:txBody>
                    <a:bodyPr/>
                    <a:lstStyle/>
                    <a:p>
                      <a:pPr algn="ctr">
                        <a:defRPr sz="1100">
                          <a:solidFill>
                            <a:srgbClr val="333333"/>
                          </a:solidFill>
                          <a:latin typeface="Malgun Gothic"/>
                        </a:defRPr>
                      </a:pPr>
                      <a:r>
                        <a:t>Self-Reflection, 다수결</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CBT 기법: 인간과 AI 모두에게 적용</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인지 재구조화: 에러는 실패가 아닌 신호</a:t>
            </a:r>
          </a:p>
          <a:p>
            <a:pPr>
              <a:spcAft>
                <a:spcPts val="1400"/>
              </a:spcAft>
              <a:defRPr sz="2000">
                <a:solidFill>
                  <a:srgbClr val="333333"/>
                </a:solidFill>
                <a:latin typeface="Malgun Gothic"/>
              </a:defRPr>
            </a:pPr>
            <a:r>
              <a:t>• 생각 기록(Thought Record): 상황-사고-증거-반대증거 분석</a:t>
            </a:r>
          </a:p>
          <a:p>
            <a:pPr>
              <a:spcAft>
                <a:spcPts val="1400"/>
              </a:spcAft>
              <a:defRPr sz="2000">
                <a:solidFill>
                  <a:srgbClr val="333333"/>
                </a:solidFill>
                <a:latin typeface="Malgun Gothic"/>
              </a:defRPr>
            </a:pPr>
            <a:r>
              <a:t>• "그래서?" 기법: 최악 상황의 실제 확률 평가</a:t>
            </a:r>
          </a:p>
          <a:p>
            <a:pPr>
              <a:spcAft>
                <a:spcPts val="1400"/>
              </a:spcAft>
              <a:defRPr sz="2000">
                <a:solidFill>
                  <a:srgbClr val="333333"/>
                </a:solidFill>
                <a:latin typeface="Malgun Gothic"/>
              </a:defRPr>
            </a:pPr>
            <a:r>
              <a:t>• 패턴 인터럽트: 물리적 행동으로 사고 사슬 끊기</a:t>
            </a:r>
          </a:p>
          <a:p>
            <a:pPr>
              <a:spcAft>
                <a:spcPts val="1400"/>
              </a:spcAft>
              <a:defRPr sz="2000">
                <a:solidFill>
                  <a:srgbClr val="333333"/>
                </a:solidFill>
                <a:latin typeface="Malgun Gothic"/>
              </a:defRPr>
            </a:pPr>
            <a:r>
              <a:t>• Self-Reflection 트리거: AI에게 의도적 성찰 유도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CoT 끊어내기 전략</a:t>
            </a:r>
          </a:p>
        </p:txBody>
      </p:sp>
      <p:graphicFrame>
        <p:nvGraphicFramePr>
          <p:cNvPr id="4" name="Table 3"/>
          <p:cNvGraphicFramePr>
            <a:graphicFrameLocks noGrp="1"/>
          </p:cNvGraphicFramePr>
          <p:nvPr/>
        </p:nvGraphicFramePr>
        <p:xfrm>
          <a:off x="457200" y="1645920"/>
          <a:ext cx="8229600" cy="4114800"/>
        </p:xfrm>
        <a:graphic>
          <a:graphicData uri="http://schemas.openxmlformats.org/drawingml/2006/table">
            <a:tbl>
              <a:tblPr firstRow="1" bandRow="1">
                <a:tableStyleId>{5C22544A-7EE6-4342-B048-85BDC9FD1C3A}</a:tableStyleId>
              </a:tblPr>
              <a:tblGrid>
                <a:gridCol w="2743200"/>
                <a:gridCol w="2743200"/>
                <a:gridCol w="2743200"/>
              </a:tblGrid>
              <a:tr h="822960">
                <a:tc>
                  <a:txBody>
                    <a:bodyPr/>
                    <a:lstStyle/>
                    <a:p>
                      <a:pPr algn="ctr">
                        <a:defRPr sz="1400" b="1">
                          <a:solidFill>
                            <a:srgbClr val="FFFFFF"/>
                          </a:solidFill>
                          <a:latin typeface="Malgun Gothic"/>
                        </a:defRPr>
                      </a:pPr>
                      <a:r>
                        <a:t>전략</a:t>
                      </a:r>
                    </a:p>
                  </a:txBody>
                  <a:tcPr>
                    <a:solidFill>
                      <a:srgbClr val="003366"/>
                    </a:solidFill>
                  </a:tcPr>
                </a:tc>
                <a:tc>
                  <a:txBody>
                    <a:bodyPr/>
                    <a:lstStyle/>
                    <a:p>
                      <a:pPr algn="ctr">
                        <a:defRPr sz="1400" b="1">
                          <a:solidFill>
                            <a:srgbClr val="FFFFFF"/>
                          </a:solidFill>
                          <a:latin typeface="Malgun Gothic"/>
                        </a:defRPr>
                      </a:pPr>
                      <a:r>
                        <a:t>인간용 (CBT)</a:t>
                      </a:r>
                    </a:p>
                  </a:txBody>
                  <a:tcPr>
                    <a:solidFill>
                      <a:srgbClr val="003366"/>
                    </a:solidFill>
                  </a:tcPr>
                </a:tc>
                <a:tc>
                  <a:txBody>
                    <a:bodyPr/>
                    <a:lstStyle/>
                    <a:p>
                      <a:pPr algn="ctr">
                        <a:defRPr sz="1400" b="1">
                          <a:solidFill>
                            <a:srgbClr val="FFFFFF"/>
                          </a:solidFill>
                          <a:latin typeface="Malgun Gothic"/>
                        </a:defRPr>
                      </a:pPr>
                      <a:r>
                        <a:t>AI용 (프롬프트)</a:t>
                      </a:r>
                    </a:p>
                  </a:txBody>
                  <a:tcPr>
                    <a:solidFill>
                      <a:srgbClr val="003366"/>
                    </a:solidFill>
                  </a:tcPr>
                </a:tc>
              </a:tr>
              <a:tr h="822960">
                <a:tc>
                  <a:txBody>
                    <a:bodyPr/>
                    <a:lstStyle/>
                    <a:p>
                      <a:pPr algn="ctr">
                        <a:defRPr sz="1100">
                          <a:solidFill>
                            <a:srgbClr val="333333"/>
                          </a:solidFill>
                          <a:latin typeface="Malgun Gothic"/>
                        </a:defRPr>
                      </a:pPr>
                      <a:r>
                        <a:t>중간 검토</a:t>
                      </a:r>
                    </a:p>
                  </a:txBody>
                  <a:tcPr/>
                </a:tc>
                <a:tc>
                  <a:txBody>
                    <a:bodyPr/>
                    <a:lstStyle/>
                    <a:p>
                      <a:pPr algn="ctr">
                        <a:defRPr sz="1100">
                          <a:solidFill>
                            <a:srgbClr val="333333"/>
                          </a:solidFill>
                          <a:latin typeface="Malgun Gothic"/>
                        </a:defRPr>
                      </a:pPr>
                      <a:r>
                        <a:t>생각 기록 작성</a:t>
                      </a:r>
                    </a:p>
                  </a:txBody>
                  <a:tcPr/>
                </a:tc>
                <a:tc>
                  <a:txBody>
                    <a:bodyPr/>
                    <a:lstStyle/>
                    <a:p>
                      <a:pPr algn="ctr">
                        <a:defRPr sz="1100">
                          <a:solidFill>
                            <a:srgbClr val="333333"/>
                          </a:solidFill>
                          <a:latin typeface="Malgun Gothic"/>
                        </a:defRPr>
                      </a:pPr>
                      <a:r>
                        <a:t>Self-Reflection 트리거 주입</a:t>
                      </a:r>
                    </a:p>
                  </a:txBody>
                  <a:tcPr/>
                </a:tc>
              </a:tr>
              <a:tr h="822960">
                <a:tc>
                  <a:txBody>
                    <a:bodyPr/>
                    <a:lstStyle/>
                    <a:p>
                      <a:pPr algn="ctr">
                        <a:defRPr sz="1100">
                          <a:solidFill>
                            <a:srgbClr val="333333"/>
                          </a:solidFill>
                          <a:latin typeface="Malgun Gothic"/>
                        </a:defRPr>
                      </a:pPr>
                      <a:r>
                        <a:t>체인 리셋</a:t>
                      </a:r>
                    </a:p>
                  </a:txBody>
                  <a:tcPr/>
                </a:tc>
                <a:tc>
                  <a:txBody>
                    <a:bodyPr/>
                    <a:lstStyle/>
                    <a:p>
                      <a:pPr algn="ctr">
                        <a:defRPr sz="1100">
                          <a:solidFill>
                            <a:srgbClr val="333333"/>
                          </a:solidFill>
                          <a:latin typeface="Malgun Gothic"/>
                        </a:defRPr>
                      </a:pPr>
                      <a:r>
                        <a:t>10초 심호흡, 자리 이동</a:t>
                      </a:r>
                    </a:p>
                  </a:txBody>
                  <a:tcPr/>
                </a:tc>
                <a:tc>
                  <a:txBody>
                    <a:bodyPr/>
                    <a:lstStyle/>
                    <a:p>
                      <a:pPr algn="ctr">
                        <a:defRPr sz="1100">
                          <a:solidFill>
                            <a:srgbClr val="333333"/>
                          </a:solidFill>
                          <a:latin typeface="Malgun Gothic"/>
                        </a:defRPr>
                      </a:pPr>
                      <a:r>
                        <a:t>컨텍스트 초기화 후 재시작</a:t>
                      </a:r>
                    </a:p>
                  </a:txBody>
                  <a:tcPr/>
                </a:tc>
              </a:tr>
              <a:tr h="822960">
                <a:tc>
                  <a:txBody>
                    <a:bodyPr/>
                    <a:lstStyle/>
                    <a:p>
                      <a:pPr algn="ctr">
                        <a:defRPr sz="1100">
                          <a:solidFill>
                            <a:srgbClr val="333333"/>
                          </a:solidFill>
                          <a:latin typeface="Malgun Gothic"/>
                        </a:defRPr>
                      </a:pPr>
                      <a:r>
                        <a:t>분기 탐색</a:t>
                      </a:r>
                    </a:p>
                  </a:txBody>
                  <a:tcPr/>
                </a:tc>
                <a:tc>
                  <a:txBody>
                    <a:bodyPr/>
                    <a:lstStyle/>
                    <a:p>
                      <a:pPr algn="ctr">
                        <a:defRPr sz="1100">
                          <a:solidFill>
                            <a:srgbClr val="333333"/>
                          </a:solidFill>
                          <a:latin typeface="Malgun Gothic"/>
                        </a:defRPr>
                      </a:pPr>
                      <a:r>
                        <a:t>대안적 사고 형성</a:t>
                      </a:r>
                    </a:p>
                  </a:txBody>
                  <a:tcPr/>
                </a:tc>
                <a:tc>
                  <a:txBody>
                    <a:bodyPr/>
                    <a:lstStyle/>
                    <a:p>
                      <a:pPr algn="ctr">
                        <a:defRPr sz="1100">
                          <a:solidFill>
                            <a:srgbClr val="333333"/>
                          </a:solidFill>
                          <a:latin typeface="Malgun Gothic"/>
                        </a:defRPr>
                      </a:pPr>
                      <a:r>
                        <a:t>3가지 다른 추론 경로 제시</a:t>
                      </a:r>
                    </a:p>
                  </a:txBody>
                  <a:tcPr/>
                </a:tc>
              </a:tr>
              <a:tr h="822960">
                <a:tc>
                  <a:txBody>
                    <a:bodyPr/>
                    <a:lstStyle/>
                    <a:p>
                      <a:pPr algn="ctr">
                        <a:defRPr sz="1100">
                          <a:solidFill>
                            <a:srgbClr val="333333"/>
                          </a:solidFill>
                          <a:latin typeface="Malgun Gothic"/>
                        </a:defRPr>
                      </a:pPr>
                      <a:r>
                        <a:t>확증 편향 차단</a:t>
                      </a:r>
                    </a:p>
                  </a:txBody>
                  <a:tcPr/>
                </a:tc>
                <a:tc>
                  <a:txBody>
                    <a:bodyPr/>
                    <a:lstStyle/>
                    <a:p>
                      <a:pPr algn="ctr">
                        <a:defRPr sz="1100">
                          <a:solidFill>
                            <a:srgbClr val="333333"/>
                          </a:solidFill>
                          <a:latin typeface="Malgun Gothic"/>
                        </a:defRPr>
                      </a:pPr>
                      <a:r>
                        <a:t>반대 증거 검토</a:t>
                      </a:r>
                    </a:p>
                  </a:txBody>
                  <a:tcPr/>
                </a:tc>
                <a:tc>
                  <a:txBody>
                    <a:bodyPr/>
                    <a:lstStyle/>
                    <a:p>
                      <a:pPr algn="ctr">
                        <a:defRPr sz="1100">
                          <a:solidFill>
                            <a:srgbClr val="333333"/>
                          </a:solidFill>
                          <a:latin typeface="Malgun Gothic"/>
                        </a:defRPr>
                      </a:pPr>
                      <a:r>
                        <a:t>결론을 반박할 근거 제시 요청</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정신병리학 세션 정리</a:t>
            </a:r>
          </a:p>
        </p:txBody>
      </p:sp>
      <p:sp>
        <p:nvSpPr>
          <p:cNvPr id="4" name="TextBox 3"/>
          <p:cNvSpPr txBox="1"/>
          <p:nvPr/>
        </p:nvSpPr>
        <p:spPr>
          <a:xfrm>
            <a:off x="731520" y="1371600"/>
            <a:ext cx="7680960" cy="3200400"/>
          </a:xfrm>
          <a:prstGeom prst="rect">
            <a:avLst/>
          </a:prstGeom>
          <a:noFill/>
        </p:spPr>
        <p:txBody>
          <a:bodyPr wrap="square">
            <a:spAutoFit/>
          </a:bodyPr>
          <a:lstStyle/>
          <a:p>
            <a:pPr>
              <a:spcAft>
                <a:spcPts val="1200"/>
              </a:spcAft>
              <a:defRPr sz="1800">
                <a:solidFill>
                  <a:srgbClr val="333333"/>
                </a:solidFill>
                <a:latin typeface="Malgun Gothic"/>
              </a:defRPr>
            </a:pPr>
            <a:r>
              <a:t>✓ 파국화는 연쇄적 논리 오염: 첫 단추가 중요</a:t>
            </a:r>
          </a:p>
          <a:p>
            <a:pPr>
              <a:spcAft>
                <a:spcPts val="1200"/>
              </a:spcAft>
              <a:defRPr sz="1800">
                <a:solidFill>
                  <a:srgbClr val="333333"/>
                </a:solidFill>
                <a:latin typeface="Malgun Gothic"/>
              </a:defRPr>
            </a:pPr>
            <a:r>
              <a:t>✓ 내부 정합성의 함정: 논리적 흐름이 오류를 정당화</a:t>
            </a:r>
          </a:p>
          <a:p>
            <a:pPr>
              <a:spcAft>
                <a:spcPts val="1200"/>
              </a:spcAft>
              <a:defRPr sz="1800">
                <a:solidFill>
                  <a:srgbClr val="333333"/>
                </a:solidFill>
                <a:latin typeface="Malgun Gothic"/>
              </a:defRPr>
            </a:pPr>
            <a:r>
              <a:t>✓ CBT와 Self-Reflection은 동일 목적: 생각에 대한 생각</a:t>
            </a:r>
          </a:p>
          <a:p>
            <a:pPr>
              <a:spcAft>
                <a:spcPts val="1200"/>
              </a:spcAft>
              <a:defRPr sz="1800">
                <a:solidFill>
                  <a:srgbClr val="333333"/>
                </a:solidFill>
                <a:latin typeface="Malgun Gothic"/>
              </a:defRPr>
            </a:pPr>
            <a:r>
              <a:t>✓ 사고 과정 자체를 대상화할 때 오류로부터 자유로워짐</a:t>
            </a:r>
          </a:p>
        </p:txBody>
      </p:sp>
      <p:sp>
        <p:nvSpPr>
          <p:cNvPr id="5" name="Rounded Rectangle 4"/>
          <p:cNvSpPr/>
          <p:nvPr/>
        </p:nvSpPr>
        <p:spPr>
          <a:xfrm>
            <a:off x="731520" y="4754880"/>
            <a:ext cx="7680960" cy="1371600"/>
          </a:xfrm>
          <a:prstGeom prst="roundRect">
            <a:avLst/>
          </a:prstGeom>
          <a:solidFill>
            <a:srgbClr val="666666"/>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FFFFF"/>
                </a:solidFill>
                <a:latin typeface="Malgun Gothic"/>
              </a:defRPr>
            </a:pPr>
            <a:r>
              <a:t>💡 인간과 AI 모두 자기 수정 기제가 필요하다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4800" b="1">
                <a:solidFill>
                  <a:srgbClr val="FFFFFF"/>
                </a:solidFill>
                <a:latin typeface="Malgun Gothic"/>
              </a:defRPr>
            </a:pPr>
            <a:r>
              <a:t>세션 4: 성격심리학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페르소나: AI에게 성격을 부여하는 것</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"AI에게 성격을 부여하는 것은 단순한 장식인가, 성능의 도구인가?"</a:t>
            </a:r>
          </a:p>
          <a:p>
            <a:pPr>
              <a:spcAft>
                <a:spcPts val="1400"/>
              </a:spcAft>
              <a:defRPr sz="2000">
                <a:solidFill>
                  <a:srgbClr val="333333"/>
                </a:solidFill>
                <a:latin typeface="Malgun Gothic"/>
              </a:defRPr>
            </a:pPr>
            <a:r>
              <a:t>• 성격이 명확할수록 AI의 답변 일관성(Consistency)이 높아짐</a:t>
            </a:r>
          </a:p>
          <a:p>
            <a:pPr>
              <a:spcAft>
                <a:spcPts val="1400"/>
              </a:spcAft>
              <a:defRPr sz="2000">
                <a:solidFill>
                  <a:srgbClr val="333333"/>
                </a:solidFill>
                <a:latin typeface="Malgun Gothic"/>
              </a:defRPr>
            </a:pPr>
            <a:r>
              <a:t>• 시스템 프롬프트를 통한 역할 고립(Persona Isolation)</a:t>
            </a:r>
          </a:p>
          <a:p>
            <a:pPr>
              <a:spcAft>
                <a:spcPts val="1400"/>
              </a:spcAft>
              <a:defRPr sz="2000">
                <a:solidFill>
                  <a:srgbClr val="333333"/>
                </a:solidFill>
                <a:latin typeface="Malgun Gothic"/>
              </a:defRPr>
            </a:pPr>
            <a:r>
              <a:t>• 특정 전문가 역할 부여 시 관련 없는 맥락 배제</a:t>
            </a:r>
          </a:p>
          <a:p>
            <a:pPr>
              <a:spcAft>
                <a:spcPts val="1400"/>
              </a:spcAft>
              <a:defRPr sz="2000">
                <a:solidFill>
                  <a:srgbClr val="333333"/>
                </a:solidFill>
                <a:latin typeface="Malgun Gothic"/>
              </a:defRPr>
            </a:pPr>
            <a:r>
              <a:t>• 연산 자원의 효율적 집중</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Big Five (OCEAN) 모델 적용</a:t>
            </a:r>
          </a:p>
        </p:txBody>
      </p:sp>
      <p:graphicFrame>
        <p:nvGraphicFramePr>
          <p:cNvPr id="4" name="Table 3"/>
          <p:cNvGraphicFramePr>
            <a:graphicFrameLocks noGrp="1"/>
          </p:cNvGraphicFramePr>
          <p:nvPr/>
        </p:nvGraphicFramePr>
        <p:xfrm>
          <a:off x="457200" y="1645920"/>
          <a:ext cx="8229600" cy="4114800"/>
        </p:xfrm>
        <a:graphic>
          <a:graphicData uri="http://schemas.openxmlformats.org/drawingml/2006/table">
            <a:tbl>
              <a:tblPr firstRow="1" bandRow="1">
                <a:tableStyleId>{5C22544A-7EE6-4342-B048-85BDC9FD1C3A}</a:tableStyleId>
              </a:tblPr>
              <a:tblGrid>
                <a:gridCol w="2057400"/>
                <a:gridCol w="2057400"/>
                <a:gridCol w="2057400"/>
                <a:gridCol w="2057400"/>
              </a:tblGrid>
              <a:tr h="685800">
                <a:tc>
                  <a:txBody>
                    <a:bodyPr/>
                    <a:lstStyle/>
                    <a:p>
                      <a:pPr algn="ctr">
                        <a:defRPr sz="1400" b="1">
                          <a:solidFill>
                            <a:srgbClr val="FFFFFF"/>
                          </a:solidFill>
                          <a:latin typeface="Malgun Gothic"/>
                        </a:defRPr>
                      </a:pPr>
                      <a:r>
                        <a:t>요인</a:t>
                      </a:r>
                    </a:p>
                  </a:txBody>
                  <a:tcPr>
                    <a:solidFill>
                      <a:srgbClr val="003366"/>
                    </a:solidFill>
                  </a:tcPr>
                </a:tc>
                <a:tc>
                  <a:txBody>
                    <a:bodyPr/>
                    <a:lstStyle/>
                    <a:p>
                      <a:pPr algn="ctr">
                        <a:defRPr sz="1400" b="1">
                          <a:solidFill>
                            <a:srgbClr val="FFFFFF"/>
                          </a:solidFill>
                          <a:latin typeface="Malgun Gothic"/>
                        </a:defRPr>
                      </a:pPr>
                      <a:r>
                        <a:t>높은 설정</a:t>
                      </a:r>
                    </a:p>
                  </a:txBody>
                  <a:tcPr>
                    <a:solidFill>
                      <a:srgbClr val="003366"/>
                    </a:solidFill>
                  </a:tcPr>
                </a:tc>
                <a:tc>
                  <a:txBody>
                    <a:bodyPr/>
                    <a:lstStyle/>
                    <a:p>
                      <a:pPr algn="ctr">
                        <a:defRPr sz="1400" b="1">
                          <a:solidFill>
                            <a:srgbClr val="FFFFFF"/>
                          </a:solidFill>
                          <a:latin typeface="Malgun Gothic"/>
                        </a:defRPr>
                      </a:pPr>
                      <a:r>
                        <a:t>낮은 설정</a:t>
                      </a:r>
                    </a:p>
                  </a:txBody>
                  <a:tcPr>
                    <a:solidFill>
                      <a:srgbClr val="003366"/>
                    </a:solidFill>
                  </a:tcPr>
                </a:tc>
                <a:tc>
                  <a:txBody>
                    <a:bodyPr/>
                    <a:lstStyle/>
                    <a:p>
                      <a:pPr algn="ctr">
                        <a:defRPr sz="1400" b="1">
                          <a:solidFill>
                            <a:srgbClr val="FFFFFF"/>
                          </a:solidFill>
                          <a:latin typeface="Malgun Gothic"/>
                        </a:defRPr>
                      </a:pPr>
                      <a:r>
                        <a:t>적용 예시</a:t>
                      </a:r>
                    </a:p>
                  </a:txBody>
                  <a:tcPr>
                    <a:solidFill>
                      <a:srgbClr val="003366"/>
                    </a:solidFill>
                  </a:tcPr>
                </a:tc>
              </a:tr>
              <a:tr h="685800">
                <a:tc>
                  <a:txBody>
                    <a:bodyPr/>
                    <a:lstStyle/>
                    <a:p>
                      <a:pPr algn="ctr">
                        <a:defRPr sz="1100">
                          <a:solidFill>
                            <a:srgbClr val="333333"/>
                          </a:solidFill>
                          <a:latin typeface="Malgun Gothic"/>
                        </a:defRPr>
                      </a:pPr>
                      <a:r>
                        <a:t>개방성(Openness)</a:t>
                      </a:r>
                    </a:p>
                  </a:txBody>
                  <a:tcPr/>
                </a:tc>
                <a:tc>
                  <a:txBody>
                    <a:bodyPr/>
                    <a:lstStyle/>
                    <a:p>
                      <a:pPr algn="ctr">
                        <a:defRPr sz="1100">
                          <a:solidFill>
                            <a:srgbClr val="333333"/>
                          </a:solidFill>
                          <a:latin typeface="Malgun Gothic"/>
                        </a:defRPr>
                      </a:pPr>
                      <a:r>
                        <a:t>창의적 비유, 모험적</a:t>
                      </a:r>
                    </a:p>
                  </a:txBody>
                  <a:tcPr/>
                </a:tc>
                <a:tc>
                  <a:txBody>
                    <a:bodyPr/>
                    <a:lstStyle/>
                    <a:p>
                      <a:pPr algn="ctr">
                        <a:defRPr sz="1100">
                          <a:solidFill>
                            <a:srgbClr val="333333"/>
                          </a:solidFill>
                          <a:latin typeface="Malgun Gothic"/>
                        </a:defRPr>
                      </a:pPr>
                      <a:r>
                        <a:t>교과서적, 보수적</a:t>
                      </a:r>
                    </a:p>
                  </a:txBody>
                  <a:tcPr/>
                </a:tc>
                <a:tc>
                  <a:txBody>
                    <a:bodyPr/>
                    <a:lstStyle/>
                    <a:p>
                      <a:pPr algn="ctr">
                        <a:defRPr sz="1100">
                          <a:solidFill>
                            <a:srgbClr val="333333"/>
                          </a:solidFill>
                          <a:latin typeface="Malgun Gothic"/>
                        </a:defRPr>
                      </a:pPr>
                      <a:r>
                        <a:t>브레인스토밍 vs 기술문서</a:t>
                      </a:r>
                    </a:p>
                  </a:txBody>
                  <a:tcPr/>
                </a:tc>
              </a:tr>
              <a:tr h="685800">
                <a:tc>
                  <a:txBody>
                    <a:bodyPr/>
                    <a:lstStyle/>
                    <a:p>
                      <a:pPr algn="ctr">
                        <a:defRPr sz="1100">
                          <a:solidFill>
                            <a:srgbClr val="333333"/>
                          </a:solidFill>
                          <a:latin typeface="Malgun Gothic"/>
                        </a:defRPr>
                      </a:pPr>
                      <a:r>
                        <a:t>성실성(Conscientiousness)</a:t>
                      </a:r>
                    </a:p>
                  </a:txBody>
                  <a:tcPr/>
                </a:tc>
                <a:tc>
                  <a:txBody>
                    <a:bodyPr/>
                    <a:lstStyle/>
                    <a:p>
                      <a:pPr algn="ctr">
                        <a:defRPr sz="1100">
                          <a:solidFill>
                            <a:srgbClr val="333333"/>
                          </a:solidFill>
                          <a:latin typeface="Malgun Gothic"/>
                        </a:defRPr>
                      </a:pPr>
                      <a:r>
                        <a:t>주석, 예외처리 집착</a:t>
                      </a:r>
                    </a:p>
                  </a:txBody>
                  <a:tcPr/>
                </a:tc>
                <a:tc>
                  <a:txBody>
                    <a:bodyPr/>
                    <a:lstStyle/>
                    <a:p>
                      <a:pPr algn="ctr">
                        <a:defRPr sz="1100">
                          <a:solidFill>
                            <a:srgbClr val="333333"/>
                          </a:solidFill>
                          <a:latin typeface="Malgun Gothic"/>
                        </a:defRPr>
                      </a:pPr>
                      <a:r>
                        <a:t>핵심 로직만 빠르게</a:t>
                      </a:r>
                    </a:p>
                  </a:txBody>
                  <a:tcPr/>
                </a:tc>
                <a:tc>
                  <a:txBody>
                    <a:bodyPr/>
                    <a:lstStyle/>
                    <a:p>
                      <a:pPr algn="ctr">
                        <a:defRPr sz="1100">
                          <a:solidFill>
                            <a:srgbClr val="333333"/>
                          </a:solidFill>
                          <a:latin typeface="Malgun Gothic"/>
                        </a:defRPr>
                      </a:pPr>
                      <a:r>
                        <a:t>코드 리뷰 vs 프로토타입</a:t>
                      </a:r>
                    </a:p>
                  </a:txBody>
                  <a:tcPr/>
                </a:tc>
              </a:tr>
              <a:tr h="685800">
                <a:tc>
                  <a:txBody>
                    <a:bodyPr/>
                    <a:lstStyle/>
                    <a:p>
                      <a:pPr algn="ctr">
                        <a:defRPr sz="1100">
                          <a:solidFill>
                            <a:srgbClr val="333333"/>
                          </a:solidFill>
                          <a:latin typeface="Malgun Gothic"/>
                        </a:defRPr>
                      </a:pPr>
                      <a:r>
                        <a:t>외향성(Extroversion)</a:t>
                      </a:r>
                    </a:p>
                  </a:txBody>
                  <a:tcPr/>
                </a:tc>
                <a:tc>
                  <a:txBody>
                    <a:bodyPr/>
                    <a:lstStyle/>
                    <a:p>
                      <a:pPr algn="ctr">
                        <a:defRPr sz="1100">
                          <a:solidFill>
                            <a:srgbClr val="333333"/>
                          </a:solidFill>
                          <a:latin typeface="Malgun Gothic"/>
                        </a:defRPr>
                      </a:pPr>
                      <a:r>
                        <a:t>활발한 톤, 주도적</a:t>
                      </a:r>
                    </a:p>
                  </a:txBody>
                  <a:tcPr/>
                </a:tc>
                <a:tc>
                  <a:txBody>
                    <a:bodyPr/>
                    <a:lstStyle/>
                    <a:p>
                      <a:pPr algn="ctr">
                        <a:defRPr sz="1100">
                          <a:solidFill>
                            <a:srgbClr val="333333"/>
                          </a:solidFill>
                          <a:latin typeface="Malgun Gothic"/>
                        </a:defRPr>
                      </a:pPr>
                      <a:r>
                        <a:t>차분한 톤, 수동적</a:t>
                      </a:r>
                    </a:p>
                  </a:txBody>
                  <a:tcPr/>
                </a:tc>
                <a:tc>
                  <a:txBody>
                    <a:bodyPr/>
                    <a:lstStyle/>
                    <a:p>
                      <a:pPr algn="ctr">
                        <a:defRPr sz="1100">
                          <a:solidFill>
                            <a:srgbClr val="333333"/>
                          </a:solidFill>
                          <a:latin typeface="Malgun Gothic"/>
                        </a:defRPr>
                      </a:pPr>
                      <a:r>
                        <a:t>발표 자료 vs 보고서</a:t>
                      </a:r>
                    </a:p>
                  </a:txBody>
                  <a:tcPr/>
                </a:tc>
              </a:tr>
              <a:tr h="685800">
                <a:tc>
                  <a:txBody>
                    <a:bodyPr/>
                    <a:lstStyle/>
                    <a:p>
                      <a:pPr algn="ctr">
                        <a:defRPr sz="1100">
                          <a:solidFill>
                            <a:srgbClr val="333333"/>
                          </a:solidFill>
                          <a:latin typeface="Malgun Gothic"/>
                        </a:defRPr>
                      </a:pPr>
                      <a:r>
                        <a:t>우호성(Agreeableness)</a:t>
                      </a:r>
                    </a:p>
                  </a:txBody>
                  <a:tcPr/>
                </a:tc>
                <a:tc>
                  <a:txBody>
                    <a:bodyPr/>
                    <a:lstStyle/>
                    <a:p>
                      <a:pPr algn="ctr">
                        <a:defRPr sz="1100">
                          <a:solidFill>
                            <a:srgbClr val="333333"/>
                          </a:solidFill>
                          <a:latin typeface="Malgun Gothic"/>
                        </a:defRPr>
                      </a:pPr>
                      <a:r>
                        <a:t>친절, 협조적</a:t>
                      </a:r>
                    </a:p>
                  </a:txBody>
                  <a:tcPr/>
                </a:tc>
                <a:tc>
                  <a:txBody>
                    <a:bodyPr/>
                    <a:lstStyle/>
                    <a:p>
                      <a:pPr algn="ctr">
                        <a:defRPr sz="1100">
                          <a:solidFill>
                            <a:srgbClr val="333333"/>
                          </a:solidFill>
                          <a:latin typeface="Malgun Gothic"/>
                        </a:defRPr>
                      </a:pPr>
                      <a:r>
                        <a:t>단호, 비판적</a:t>
                      </a:r>
                    </a:p>
                  </a:txBody>
                  <a:tcPr/>
                </a:tc>
                <a:tc>
                  <a:txBody>
                    <a:bodyPr/>
                    <a:lstStyle/>
                    <a:p>
                      <a:pPr algn="ctr">
                        <a:defRPr sz="1100">
                          <a:solidFill>
                            <a:srgbClr val="333333"/>
                          </a:solidFill>
                          <a:latin typeface="Malgun Gothic"/>
                        </a:defRPr>
                      </a:pPr>
                      <a:r>
                        <a:t>코칭 vs 코드 리뷰</a:t>
                      </a:r>
                    </a:p>
                  </a:txBody>
                  <a:tcPr/>
                </a:tc>
              </a:tr>
              <a:tr h="685800">
                <a:tc>
                  <a:txBody>
                    <a:bodyPr/>
                    <a:lstStyle/>
                    <a:p>
                      <a:pPr algn="ctr">
                        <a:defRPr sz="1100">
                          <a:solidFill>
                            <a:srgbClr val="333333"/>
                          </a:solidFill>
                          <a:latin typeface="Malgun Gothic"/>
                        </a:defRPr>
                      </a:pPr>
                      <a:r>
                        <a:t>신경증(Neuroticism)</a:t>
                      </a:r>
                    </a:p>
                  </a:txBody>
                  <a:tcPr/>
                </a:tc>
                <a:tc>
                  <a:txBody>
                    <a:bodyPr/>
                    <a:lstStyle/>
                    <a:p>
                      <a:pPr algn="ctr">
                        <a:defRPr sz="1100">
                          <a:solidFill>
                            <a:srgbClr val="333333"/>
                          </a:solidFill>
                          <a:latin typeface="Malgun Gothic"/>
                        </a:defRPr>
                      </a:pPr>
                      <a:r>
                        <a:t>예민함, 오류 집중</a:t>
                      </a:r>
                    </a:p>
                  </a:txBody>
                  <a:tcPr/>
                </a:tc>
                <a:tc>
                  <a:txBody>
                    <a:bodyPr/>
                    <a:lstStyle/>
                    <a:p>
                      <a:pPr algn="ctr">
                        <a:defRPr sz="1100">
                          <a:solidFill>
                            <a:srgbClr val="333333"/>
                          </a:solidFill>
                          <a:latin typeface="Malgun Gothic"/>
                        </a:defRPr>
                      </a:pPr>
                      <a:r>
                        <a:t>정서적 안정감</a:t>
                      </a:r>
                    </a:p>
                  </a:txBody>
                  <a:tcPr/>
                </a:tc>
                <a:tc>
                  <a:txBody>
                    <a:bodyPr/>
                    <a:lstStyle/>
                    <a:p>
                      <a:pPr algn="ctr">
                        <a:defRPr sz="1100">
                          <a:solidFill>
                            <a:srgbClr val="333333"/>
                          </a:solidFill>
                          <a:latin typeface="Malgun Gothic"/>
                        </a:defRPr>
                      </a:pPr>
                      <a:r>
                        <a:t>버그 헌팅 vs 일반 작업</a:t>
                      </a:r>
                    </a:p>
                  </a:txBody>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바이브 코딩에 CBT 적용하기</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바이브 코딩: 의도와 맥락(Vibe)에 집중하며 AI와 협업</a:t>
            </a:r>
          </a:p>
          <a:p>
            <a:pPr>
              <a:spcAft>
                <a:spcPts val="1400"/>
              </a:spcAft>
              <a:defRPr sz="2000">
                <a:solidFill>
                  <a:srgbClr val="333333"/>
                </a:solidFill>
                <a:latin typeface="Malgun Gothic"/>
              </a:defRPr>
            </a:pPr>
            <a:r>
              <a:t>• 정서적 파국화 방지: 에러 ≠ 나에 대한 공격</a:t>
            </a:r>
          </a:p>
          <a:p>
            <a:pPr>
              <a:spcAft>
                <a:spcPts val="1400"/>
              </a:spcAft>
              <a:defRPr sz="2000">
                <a:solidFill>
                  <a:srgbClr val="333333"/>
                </a:solidFill>
                <a:latin typeface="Malgun Gothic"/>
              </a:defRPr>
            </a:pPr>
            <a:r>
              <a:t>• 인지 재구조화: 에러 = 조율을 위한 데이터</a:t>
            </a:r>
          </a:p>
          <a:p>
            <a:pPr>
              <a:spcAft>
                <a:spcPts val="1400"/>
              </a:spcAft>
              <a:defRPr sz="2000">
                <a:solidFill>
                  <a:srgbClr val="333333"/>
                </a:solidFill>
                <a:latin typeface="Malgun Gothic"/>
              </a:defRPr>
            </a:pPr>
            <a:r>
              <a:t>• 확증 편향 해체: AI의 CoT를 중간중간 끊고 검증</a:t>
            </a:r>
          </a:p>
          <a:p>
            <a:pPr>
              <a:spcAft>
                <a:spcPts val="1400"/>
              </a:spcAft>
              <a:defRPr sz="2000">
                <a:solidFill>
                  <a:srgbClr val="333333"/>
                </a:solidFill>
                <a:latin typeface="Malgun Gothic"/>
              </a:defRPr>
            </a:pPr>
            <a:r>
              <a:t>• 통제권 강박 내려놓기: 맥락 제어에 집중</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개발자용 마음가짐 선언문</a:t>
            </a:r>
          </a:p>
        </p:txBody>
      </p:sp>
      <p:sp>
        <p:nvSpPr>
          <p:cNvPr id="4" name="Rounded Rectangle 3"/>
          <p:cNvSpPr/>
          <p:nvPr/>
        </p:nvSpPr>
        <p:spPr>
          <a:xfrm>
            <a:off x="731520" y="1828800"/>
            <a:ext cx="7680960" cy="3200400"/>
          </a:xfrm>
          <a:prstGeom prst="roundRect">
            <a:avLst/>
          </a:prstGeom>
          <a:solidFill>
            <a:srgbClr val="F0F0F5"/>
          </a:solidFill>
          <a:ln w="254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i="1">
                <a:solidFill>
                  <a:srgbClr val="003366"/>
                </a:solidFill>
                <a:latin typeface="Malgun Gothic"/>
              </a:defRPr>
            </a:pPr>
            <a:r>
              <a:t>"바이브 코딩은 단순한 기술적 숙련도가 아니라, 나와 AI 사이의 신뢰와 의심을 조절하는 심리적 평형 감각에 가깝습니다. CBT 기법을 통해 개발자가 자신의 인지 왜곡을 바로잡을 때, 비로소 AI라는 강력한 파도 위에서 바이브를 잃지 않고 항해할 수 있습니다."</a:t>
            </a:r>
          </a:p>
          <a:p>
            <a:br/>
            <a:pPr algn="r">
              <a:defRPr sz="1600">
                <a:solidFill>
                  <a:srgbClr val="666666"/>
                </a:solidFill>
                <a:latin typeface="Malgun Gothic"/>
              </a:defRPr>
            </a:pPr>
            <a:r>
              <a:t>— 바이브 코딩의 심리학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성격심리학 세션 정리</a:t>
            </a:r>
          </a:p>
        </p:txBody>
      </p:sp>
      <p:sp>
        <p:nvSpPr>
          <p:cNvPr id="4" name="TextBox 3"/>
          <p:cNvSpPr txBox="1"/>
          <p:nvPr/>
        </p:nvSpPr>
        <p:spPr>
          <a:xfrm>
            <a:off x="731520" y="1371600"/>
            <a:ext cx="7680960" cy="3200400"/>
          </a:xfrm>
          <a:prstGeom prst="rect">
            <a:avLst/>
          </a:prstGeom>
          <a:noFill/>
        </p:spPr>
        <p:txBody>
          <a:bodyPr wrap="square">
            <a:spAutoFit/>
          </a:bodyPr>
          <a:lstStyle/>
          <a:p>
            <a:pPr>
              <a:spcAft>
                <a:spcPts val="1200"/>
              </a:spcAft>
              <a:defRPr sz="1800">
                <a:solidFill>
                  <a:srgbClr val="333333"/>
                </a:solidFill>
                <a:latin typeface="Malgun Gothic"/>
              </a:defRPr>
            </a:pPr>
            <a:r>
              <a:t>✓ 페르소나는 성능의 도구: 일관된 행동 양식 제공</a:t>
            </a:r>
          </a:p>
          <a:p>
            <a:pPr>
              <a:spcAft>
                <a:spcPts val="1200"/>
              </a:spcAft>
              <a:defRPr sz="1800">
                <a:solidFill>
                  <a:srgbClr val="333333"/>
                </a:solidFill>
                <a:latin typeface="Malgun Gothic"/>
              </a:defRPr>
            </a:pPr>
            <a:r>
              <a:t>✓ Big Five 모델로 AI의 태도 정교하게 튜닝 가능</a:t>
            </a:r>
          </a:p>
          <a:p>
            <a:pPr>
              <a:spcAft>
                <a:spcPts val="1200"/>
              </a:spcAft>
              <a:defRPr sz="1800">
                <a:solidFill>
                  <a:srgbClr val="333333"/>
                </a:solidFill>
                <a:latin typeface="Malgun Gothic"/>
              </a:defRPr>
            </a:pPr>
            <a:r>
              <a:t>✓ 바이브 코딩은 심리전: 신뢰와 의심의 균형</a:t>
            </a:r>
          </a:p>
          <a:p>
            <a:pPr>
              <a:spcAft>
                <a:spcPts val="1200"/>
              </a:spcAft>
              <a:defRPr sz="1800">
                <a:solidFill>
                  <a:srgbClr val="333333"/>
                </a:solidFill>
                <a:latin typeface="Malgun Gothic"/>
              </a:defRPr>
            </a:pPr>
            <a:r>
              <a:t>✓ CBT 기법으로 개발자의 인지 왜곡 방지</a:t>
            </a:r>
          </a:p>
        </p:txBody>
      </p:sp>
      <p:sp>
        <p:nvSpPr>
          <p:cNvPr id="5" name="Rounded Rectangle 4"/>
          <p:cNvSpPr/>
          <p:nvPr/>
        </p:nvSpPr>
        <p:spPr>
          <a:xfrm>
            <a:off x="731520" y="4754880"/>
            <a:ext cx="7680960" cy="1371600"/>
          </a:xfrm>
          <a:prstGeom prst="roundRect">
            <a:avLst/>
          </a:prstGeom>
          <a:solidFill>
            <a:srgbClr val="666666"/>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FFFFF"/>
                </a:solidFill>
                <a:latin typeface="Malgun Gothic"/>
              </a:defRPr>
            </a:pPr>
            <a:r>
              <a:t>💡 AI를 튜닝하되, 그 과정에서 당신의 마음도 함께 튜닝하라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4800" b="1">
                <a:solidFill>
                  <a:srgbClr val="FFFFFF"/>
                </a:solidFill>
                <a:latin typeface="Malgun Gothic"/>
              </a:defRPr>
            </a:pPr>
            <a:r>
              <a:t>통합: 인간과 AI의 대칭적 성장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인간과 AI의 대칭적 성장 모델</a:t>
            </a:r>
          </a:p>
        </p:txBody>
      </p:sp>
      <p:graphicFrame>
        <p:nvGraphicFramePr>
          <p:cNvPr id="4" name="Table 3"/>
          <p:cNvGraphicFramePr>
            <a:graphicFrameLocks noGrp="1"/>
          </p:cNvGraphicFramePr>
          <p:nvPr/>
        </p:nvGraphicFramePr>
        <p:xfrm>
          <a:off x="457200" y="1645920"/>
          <a:ext cx="8229600" cy="4114800"/>
        </p:xfrm>
        <a:graphic>
          <a:graphicData uri="http://schemas.openxmlformats.org/drawingml/2006/table">
            <a:tbl>
              <a:tblPr firstRow="1" bandRow="1">
                <a:tableStyleId>{5C22544A-7EE6-4342-B048-85BDC9FD1C3A}</a:tableStyleId>
              </a:tblPr>
              <a:tblGrid>
                <a:gridCol w="2057400"/>
                <a:gridCol w="2057400"/>
                <a:gridCol w="2057400"/>
                <a:gridCol w="2057400"/>
              </a:tblGrid>
              <a:tr h="822960">
                <a:tc>
                  <a:txBody>
                    <a:bodyPr/>
                    <a:lstStyle/>
                    <a:p>
                      <a:pPr algn="ctr">
                        <a:defRPr sz="1400" b="1">
                          <a:solidFill>
                            <a:srgbClr val="FFFFFF"/>
                          </a:solidFill>
                          <a:latin typeface="Malgun Gothic"/>
                        </a:defRPr>
                      </a:pPr>
                      <a:r>
                        <a:t>세션</a:t>
                      </a:r>
                    </a:p>
                  </a:txBody>
                  <a:tcPr>
                    <a:solidFill>
                      <a:srgbClr val="003366"/>
                    </a:solidFill>
                  </a:tcPr>
                </a:tc>
                <a:tc>
                  <a:txBody>
                    <a:bodyPr/>
                    <a:lstStyle/>
                    <a:p>
                      <a:pPr algn="ctr">
                        <a:defRPr sz="1400" b="1">
                          <a:solidFill>
                            <a:srgbClr val="FFFFFF"/>
                          </a:solidFill>
                          <a:latin typeface="Malgun Gothic"/>
                        </a:defRPr>
                      </a:pPr>
                      <a:r>
                        <a:t>핵심 주제</a:t>
                      </a:r>
                    </a:p>
                  </a:txBody>
                  <a:tcPr>
                    <a:solidFill>
                      <a:srgbClr val="003366"/>
                    </a:solidFill>
                  </a:tcPr>
                </a:tc>
                <a:tc>
                  <a:txBody>
                    <a:bodyPr/>
                    <a:lstStyle/>
                    <a:p>
                      <a:pPr algn="ctr">
                        <a:defRPr sz="1400" b="1">
                          <a:solidFill>
                            <a:srgbClr val="FFFFFF"/>
                          </a:solidFill>
                          <a:latin typeface="Malgun Gothic"/>
                        </a:defRPr>
                      </a:pPr>
                      <a:r>
                        <a:t>AI Tuning</a:t>
                      </a:r>
                    </a:p>
                  </a:txBody>
                  <a:tcPr>
                    <a:solidFill>
                      <a:srgbClr val="003366"/>
                    </a:solidFill>
                  </a:tcPr>
                </a:tc>
                <a:tc>
                  <a:txBody>
                    <a:bodyPr/>
                    <a:lstStyle/>
                    <a:p>
                      <a:pPr algn="ctr">
                        <a:defRPr sz="1400" b="1">
                          <a:solidFill>
                            <a:srgbClr val="FFFFFF"/>
                          </a:solidFill>
                          <a:latin typeface="Malgun Gothic"/>
                        </a:defRPr>
                      </a:pPr>
                      <a:r>
                        <a:t>Human Overcoming</a:t>
                      </a:r>
                    </a:p>
                  </a:txBody>
                  <a:tcPr>
                    <a:solidFill>
                      <a:srgbClr val="003366"/>
                    </a:solidFill>
                  </a:tcPr>
                </a:tc>
              </a:tr>
              <a:tr h="822960">
                <a:tc>
                  <a:txBody>
                    <a:bodyPr/>
                    <a:lstStyle/>
                    <a:p>
                      <a:pPr algn="ctr">
                        <a:defRPr sz="1100">
                          <a:solidFill>
                            <a:srgbClr val="333333"/>
                          </a:solidFill>
                          <a:latin typeface="Malgun Gothic"/>
                        </a:defRPr>
                      </a:pPr>
                      <a:r>
                        <a:t>인지심리학</a:t>
                      </a:r>
                    </a:p>
                  </a:txBody>
                  <a:tcPr/>
                </a:tc>
                <a:tc>
                  <a:txBody>
                    <a:bodyPr/>
                    <a:lstStyle/>
                    <a:p>
                      <a:pPr algn="ctr">
                        <a:defRPr sz="1100">
                          <a:solidFill>
                            <a:srgbClr val="333333"/>
                          </a:solidFill>
                          <a:latin typeface="Malgun Gothic"/>
                        </a:defRPr>
                      </a:pPr>
                      <a:r>
                        <a:t>자원 관리</a:t>
                      </a:r>
                    </a:p>
                  </a:txBody>
                  <a:tcPr/>
                </a:tc>
                <a:tc>
                  <a:txBody>
                    <a:bodyPr/>
                    <a:lstStyle/>
                    <a:p>
                      <a:pPr algn="ctr">
                        <a:defRPr sz="1100">
                          <a:solidFill>
                            <a:srgbClr val="333333"/>
                          </a:solidFill>
                          <a:latin typeface="Malgun Gothic"/>
                        </a:defRPr>
                      </a:pPr>
                      <a:r>
                        <a:t>컨텍스트 최적화, RAG</a:t>
                      </a:r>
                    </a:p>
                  </a:txBody>
                  <a:tcPr/>
                </a:tc>
                <a:tc>
                  <a:txBody>
                    <a:bodyPr/>
                    <a:lstStyle/>
                    <a:p>
                      <a:pPr algn="ctr">
                        <a:defRPr sz="1100">
                          <a:solidFill>
                            <a:srgbClr val="333333"/>
                          </a:solidFill>
                          <a:latin typeface="Malgun Gothic"/>
                        </a:defRPr>
                      </a:pPr>
                      <a:r>
                        <a:t>작업 기억 한계 인정</a:t>
                      </a:r>
                    </a:p>
                  </a:txBody>
                  <a:tcPr/>
                </a:tc>
              </a:tr>
              <a:tr h="822960">
                <a:tc>
                  <a:txBody>
                    <a:bodyPr/>
                    <a:lstStyle/>
                    <a:p>
                      <a:pPr algn="ctr">
                        <a:defRPr sz="1100">
                          <a:solidFill>
                            <a:srgbClr val="333333"/>
                          </a:solidFill>
                          <a:latin typeface="Malgun Gothic"/>
                        </a:defRPr>
                      </a:pPr>
                      <a:r>
                        <a:t>지각심리학</a:t>
                      </a:r>
                    </a:p>
                  </a:txBody>
                  <a:tcPr/>
                </a:tc>
                <a:tc>
                  <a:txBody>
                    <a:bodyPr/>
                    <a:lstStyle/>
                    <a:p>
                      <a:pPr algn="ctr">
                        <a:defRPr sz="1100">
                          <a:solidFill>
                            <a:srgbClr val="333333"/>
                          </a:solidFill>
                          <a:latin typeface="Malgun Gothic"/>
                        </a:defRPr>
                      </a:pPr>
                      <a:r>
                        <a:t>공백 메우기</a:t>
                      </a:r>
                    </a:p>
                  </a:txBody>
                  <a:tcPr/>
                </a:tc>
                <a:tc>
                  <a:txBody>
                    <a:bodyPr/>
                    <a:lstStyle/>
                    <a:p>
                      <a:pPr algn="ctr">
                        <a:defRPr sz="1100">
                          <a:solidFill>
                            <a:srgbClr val="333333"/>
                          </a:solidFill>
                          <a:latin typeface="Malgun Gothic"/>
                        </a:defRPr>
                      </a:pPr>
                      <a:r>
                        <a:t>할루시네이션 억제</a:t>
                      </a:r>
                    </a:p>
                  </a:txBody>
                  <a:tcPr/>
                </a:tc>
                <a:tc>
                  <a:txBody>
                    <a:bodyPr/>
                    <a:lstStyle/>
                    <a:p>
                      <a:pPr algn="ctr">
                        <a:defRPr sz="1100">
                          <a:solidFill>
                            <a:srgbClr val="333333"/>
                          </a:solidFill>
                          <a:latin typeface="Malgun Gothic"/>
                        </a:defRPr>
                      </a:pPr>
                      <a:r>
                        <a:t>생성적 본성 이해</a:t>
                      </a:r>
                    </a:p>
                  </a:txBody>
                  <a:tcPr/>
                </a:tc>
              </a:tr>
              <a:tr h="822960">
                <a:tc>
                  <a:txBody>
                    <a:bodyPr/>
                    <a:lstStyle/>
                    <a:p>
                      <a:pPr algn="ctr">
                        <a:defRPr sz="1100">
                          <a:solidFill>
                            <a:srgbClr val="333333"/>
                          </a:solidFill>
                          <a:latin typeface="Malgun Gothic"/>
                        </a:defRPr>
                      </a:pPr>
                      <a:r>
                        <a:t>정신병리학</a:t>
                      </a:r>
                    </a:p>
                  </a:txBody>
                  <a:tcPr/>
                </a:tc>
                <a:tc>
                  <a:txBody>
                    <a:bodyPr/>
                    <a:lstStyle/>
                    <a:p>
                      <a:pPr algn="ctr">
                        <a:defRPr sz="1100">
                          <a:solidFill>
                            <a:srgbClr val="333333"/>
                          </a:solidFill>
                          <a:latin typeface="Malgun Gothic"/>
                        </a:defRPr>
                      </a:pPr>
                      <a:r>
                        <a:t>오류 차단</a:t>
                      </a:r>
                    </a:p>
                  </a:txBody>
                  <a:tcPr/>
                </a:tc>
                <a:tc>
                  <a:txBody>
                    <a:bodyPr/>
                    <a:lstStyle/>
                    <a:p>
                      <a:pPr algn="ctr">
                        <a:defRPr sz="1100">
                          <a:solidFill>
                            <a:srgbClr val="333333"/>
                          </a:solidFill>
                          <a:latin typeface="Malgun Gothic"/>
                        </a:defRPr>
                      </a:pPr>
                      <a:r>
                        <a:t>CoT 자기 수정</a:t>
                      </a:r>
                    </a:p>
                  </a:txBody>
                  <a:tcPr/>
                </a:tc>
                <a:tc>
                  <a:txBody>
                    <a:bodyPr/>
                    <a:lstStyle/>
                    <a:p>
                      <a:pPr algn="ctr">
                        <a:defRPr sz="1100">
                          <a:solidFill>
                            <a:srgbClr val="333333"/>
                          </a:solidFill>
                          <a:latin typeface="Malgun Gothic"/>
                        </a:defRPr>
                      </a:pPr>
                      <a:r>
                        <a:t>파국화 및 편향 차단</a:t>
                      </a:r>
                    </a:p>
                  </a:txBody>
                  <a:tcPr/>
                </a:tc>
              </a:tr>
              <a:tr h="822960">
                <a:tc>
                  <a:txBody>
                    <a:bodyPr/>
                    <a:lstStyle/>
                    <a:p>
                      <a:pPr algn="ctr">
                        <a:defRPr sz="1100">
                          <a:solidFill>
                            <a:srgbClr val="333333"/>
                          </a:solidFill>
                          <a:latin typeface="Malgun Gothic"/>
                        </a:defRPr>
                      </a:pPr>
                      <a:r>
                        <a:t>성격심리학</a:t>
                      </a:r>
                    </a:p>
                  </a:txBody>
                  <a:tcPr/>
                </a:tc>
                <a:tc>
                  <a:txBody>
                    <a:bodyPr/>
                    <a:lstStyle/>
                    <a:p>
                      <a:pPr algn="ctr">
                        <a:defRPr sz="1100">
                          <a:solidFill>
                            <a:srgbClr val="333333"/>
                          </a:solidFill>
                          <a:latin typeface="Malgun Gothic"/>
                        </a:defRPr>
                      </a:pPr>
                      <a:r>
                        <a:t>일관성 유지</a:t>
                      </a:r>
                    </a:p>
                  </a:txBody>
                  <a:tcPr/>
                </a:tc>
                <a:tc>
                  <a:txBody>
                    <a:bodyPr/>
                    <a:lstStyle/>
                    <a:p>
                      <a:pPr algn="ctr">
                        <a:defRPr sz="1100">
                          <a:solidFill>
                            <a:srgbClr val="333333"/>
                          </a:solidFill>
                          <a:latin typeface="Malgun Gothic"/>
                        </a:defRPr>
                      </a:pPr>
                      <a:r>
                        <a:t>페르소나 설정</a:t>
                      </a:r>
                    </a:p>
                  </a:txBody>
                  <a:tcPr/>
                </a:tc>
                <a:tc>
                  <a:txBody>
                    <a:bodyPr/>
                    <a:lstStyle/>
                    <a:p>
                      <a:pPr algn="ctr">
                        <a:defRPr sz="1100">
                          <a:solidFill>
                            <a:srgbClr val="333333"/>
                          </a:solidFill>
                          <a:latin typeface="Malgun Gothic"/>
                        </a:defRPr>
                      </a:pPr>
                      <a:r>
                        <a:t>명확한 의도 설정</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인간이 극복해야 할 세 가지 심리적 허들</a:t>
            </a:r>
          </a:p>
        </p:txBody>
      </p:sp>
      <p:sp>
        <p:nvSpPr>
          <p:cNvPr id="4" name="TextBox 3"/>
          <p:cNvSpPr txBox="1"/>
          <p:nvPr/>
        </p:nvSpPr>
        <p:spPr>
          <a:xfrm>
            <a:off x="731520" y="1371600"/>
            <a:ext cx="7680960" cy="5029200"/>
          </a:xfrm>
          <a:prstGeom prst="rect">
            <a:avLst/>
          </a:prstGeom>
          <a:noFill/>
        </p:spPr>
        <p:txBody>
          <a:bodyPr wrap="square">
            <a:spAutoFit/>
          </a:bodyPr>
          <a:lstStyle/>
          <a:p>
            <a:pPr>
              <a:spcAft>
                <a:spcPts val="1400"/>
              </a:spcAft>
              <a:defRPr sz="2000">
                <a:solidFill>
                  <a:srgbClr val="333333"/>
                </a:solidFill>
                <a:latin typeface="Malgun Gothic"/>
              </a:defRPr>
            </a:pPr>
            <a:r>
              <a:t>• 정서적 파국화 방지: 에러를 데이터로 인지 재구조화</a:t>
            </a:r>
          </a:p>
          <a:p>
            <a:pPr>
              <a:spcAft>
                <a:spcPts val="1400"/>
              </a:spcAft>
              <a:defRPr sz="2000">
                <a:solidFill>
                  <a:srgbClr val="333333"/>
                </a:solidFill>
                <a:latin typeface="Malgun Gothic"/>
              </a:defRPr>
            </a:pPr>
            <a:r>
              <a:t>• 확증 편향의 능동적 해체: 비판적 거리두기 유지</a:t>
            </a:r>
          </a:p>
          <a:p>
            <a:pPr>
              <a:spcAft>
                <a:spcPts val="1400"/>
              </a:spcAft>
              <a:defRPr sz="2000">
                <a:solidFill>
                  <a:srgbClr val="333333"/>
                </a:solidFill>
                <a:latin typeface="Malgun Gothic"/>
              </a:defRPr>
            </a:pPr>
            <a:r>
              <a:t>• 통제권에 대한 강박 내려놓기: 유연한 권위 형성</a:t>
            </a:r>
          </a:p>
          <a:p>
            <a:pPr>
              <a:spcAft>
                <a:spcPts val="1400"/>
              </a:spcAft>
              <a:defRPr sz="2000">
                <a:solidFill>
                  <a:srgbClr val="333333"/>
                </a:solidFill>
                <a:latin typeface="Malgun Gothic"/>
              </a:defRPr>
            </a:pPr>
            <a:r>
              <a:t>• 모든 것을 직접 써야 한다는 완벽주의 극복</a:t>
            </a:r>
          </a:p>
          <a:p>
            <a:pPr>
              <a:spcAft>
                <a:spcPts val="1400"/>
              </a:spcAft>
              <a:defRPr sz="2000">
                <a:solidFill>
                  <a:srgbClr val="333333"/>
                </a:solidFill>
                <a:latin typeface="Malgun Gothic"/>
              </a:defRPr>
            </a:pPr>
            <a:r>
              <a:t>• AI를 신뢰하되 검증은 철저히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731520"/>
          </a:xfrm>
          <a:prstGeom prst="rect">
            <a:avLst/>
          </a:prstGeom>
          <a:noFill/>
        </p:spPr>
        <p:txBody>
          <a:bodyPr wrap="none">
            <a:spAutoFit/>
          </a:bodyPr>
          <a:lstStyle/>
          <a:p>
            <a:pPr algn="l">
              <a:defRPr sz="2800" b="1">
                <a:solidFill>
                  <a:srgbClr val="FFFFFF"/>
                </a:solidFill>
                <a:latin typeface="Malgun Gothic"/>
              </a:defRPr>
            </a:pPr>
            <a:r>
              <a:t>마무리: 지능의 협업</a:t>
            </a:r>
          </a:p>
        </p:txBody>
      </p:sp>
      <p:sp>
        <p:nvSpPr>
          <p:cNvPr id="4" name="Rounded Rectangle 3"/>
          <p:cNvSpPr/>
          <p:nvPr/>
        </p:nvSpPr>
        <p:spPr>
          <a:xfrm>
            <a:off x="731520" y="1828800"/>
            <a:ext cx="7680960" cy="3200400"/>
          </a:xfrm>
          <a:prstGeom prst="roundRect">
            <a:avLst/>
          </a:prstGeom>
          <a:solidFill>
            <a:srgbClr val="F0F0F5"/>
          </a:solidFill>
          <a:ln w="254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i="1">
                <a:solidFill>
                  <a:srgbClr val="003366"/>
                </a:solidFill>
                <a:latin typeface="Malgun Gothic"/>
              </a:defRPr>
            </a:pPr>
            <a:r>
              <a:t>"AI 심리학은 단순히 기계를 더 잘 부려먹기 위한 매뉴얼이 아닙니다. AI라는 거울을 통해 우리 자신의 인지적 한계와 편향을 들여다보고, 그 결함을 기술과 심리학으로 함께 보완해 나가는 지능의 협업에 관한 이야기입니다. AI를 튜닝하십시오. 그리고 그 과정에서 당신의 마음도 함께 튜닝하십시오. 그것이 진정한 의미의 바이브 코딩이자 미래의 지능입니다."</a:t>
            </a:r>
          </a:p>
          <a:p>
            <a:br/>
            <a:pPr algn="r">
              <a:defRPr sz="1600">
                <a:solidFill>
                  <a:srgbClr val="666666"/>
                </a:solidFill>
                <a:latin typeface="Malgun Gothic"/>
              </a:defRPr>
            </a:pPr>
            <a:r>
              <a:t>—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