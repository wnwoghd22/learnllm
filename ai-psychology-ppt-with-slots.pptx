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AI와 심리학</a:t>
            </a:r>
          </a:p>
          <a:p>
            <a:pPr algn="ctr">
              <a:defRPr sz="2400"/>
            </a:pPr>
            <a:r>
              <a:t>인공지능 시대의 심리학적 통찰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발표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인지심리학: Attention 메커니즘과 인지 자원 관리</a:t>
            </a:r>
          </a:p>
          <a:p>
            <a:pPr>
              <a:spcAft>
                <a:spcPts val="1200"/>
              </a:spcAft>
              <a:defRPr sz="1800"/>
            </a:pPr>
            <a:r>
              <a:t>• 지각심리학: 할루시네이션과 맹점 채우기</a:t>
            </a:r>
          </a:p>
          <a:p>
            <a:pPr>
              <a:spcAft>
                <a:spcPts val="1200"/>
              </a:spcAft>
              <a:defRPr sz="1800"/>
            </a:pPr>
            <a:r>
              <a:t>• 정신병리학: 파국화와 CoT 실패</a:t>
            </a:r>
          </a:p>
          <a:p>
            <a:pPr>
              <a:spcAft>
                <a:spcPts val="1200"/>
              </a:spcAft>
              <a:defRPr sz="1800"/>
            </a:pPr>
            <a:r>
              <a:t>• 성격심리학: AI 페르소나 설계</a:t>
            </a:r>
          </a:p>
          <a:p>
            <a:pPr>
              <a:spcAft>
                <a:spcPts val="1200"/>
              </a:spcAft>
              <a:defRPr sz="1800"/>
            </a:pPr>
            <a:r>
              <a:t>• 통합: 인간-AI 공진화 모델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인지심리학 세션</a:t>
            </a:r>
          </a:p>
          <a:p>
            <a:r>
              <a:t>Cognition Psychology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Brain Diagram / Transformer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90FF"/>
                </a:solidFill>
              </a:defRPr>
            </a:pPr>
            <a:r>
              <a:t>Attention is All You Need… for humans too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'Attention'은 심리학의 핵심 개념이자 현대 AI의 근간</a:t>
            </a:r>
          </a:p>
          <a:p>
            <a:pPr>
              <a:spcAft>
                <a:spcPts val="1200"/>
              </a:spcAft>
              <a:defRPr sz="1800"/>
            </a:pPr>
            <a:r>
              <a:t>• 인간의 주의: '무한한 정보 속에서 무엇을 무시할지 결정하는 생존 본능'</a:t>
            </a:r>
          </a:p>
          <a:p>
            <a:pPr>
              <a:spcAft>
                <a:spcPts val="1200"/>
              </a:spcAft>
              <a:defRPr sz="1800"/>
            </a:pPr>
            <a:r>
              <a:t>• 윌리엄 제임스의 정의와 칵테일 파티 효과</a:t>
            </a:r>
          </a:p>
          <a:p>
            <a:pPr>
              <a:spcAft>
                <a:spcPts val="1200"/>
              </a:spcAft>
              <a:defRPr sz="1800"/>
            </a:pPr>
            <a:r>
              <a:t>• 2017년, 구글은 기계에게 '선별적 집중' 능력을 부여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Brain Diagram / Transformer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90FF"/>
                </a:solidFill>
              </a:defRPr>
            </a:pPr>
            <a:r>
              <a:t>Self-Attention의 심리학적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기존 RNN: '한 글자씩 읽으며 앞 내용을 까먹는' 인지적 한계</a:t>
            </a:r>
          </a:p>
          <a:p>
            <a:pPr>
              <a:spcAft>
                <a:spcPts val="1200"/>
              </a:spcAft>
              <a:defRPr sz="1800"/>
            </a:pPr>
            <a:r>
              <a:t>• Transformer: 모든 단어를 한꺼번에 펼쳐놓고 관계를 '훑어보는' 방식</a:t>
            </a:r>
          </a:p>
          <a:p>
            <a:pPr>
              <a:spcAft>
                <a:spcPts val="1200"/>
              </a:spcAft>
              <a:defRPr sz="1800"/>
            </a:pPr>
            <a:r>
              <a:t>• 인간이 복잡한 도면을 볼 때 중요한 부분에 시선을 고정(Fixation)하는 것과 유사</a:t>
            </a:r>
          </a:p>
          <a:p>
            <a:pPr>
              <a:spcAft>
                <a:spcPts val="1200"/>
              </a:spcAft>
              <a:defRPr sz="1800"/>
            </a:pPr>
            <a:r>
              <a:t>• 맥락적 기억력(Contextual Memory)의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Brain Diagram / Transformer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90FF"/>
                </a:solidFill>
              </a:defRPr>
            </a:pPr>
            <a:r>
              <a:t>자원의 효율적 배분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Cognitive Resource Theory: 인지 자원은 한정되어 있음</a:t>
            </a:r>
          </a:p>
          <a:p>
            <a:pPr>
              <a:spcAft>
                <a:spcPts val="1200"/>
              </a:spcAft>
              <a:defRPr sz="1800"/>
            </a:pPr>
            <a:r>
              <a:t>• AI의 연산 자원(Compute) 역시 한정적</a:t>
            </a:r>
          </a:p>
          <a:p>
            <a:pPr>
              <a:spcAft>
                <a:spcPts val="1200"/>
              </a:spcAft>
              <a:defRPr sz="1800"/>
            </a:pPr>
            <a:r>
              <a:t>• Attention = Weight (가중치): '어디에 자원을 집중할지'를 학습</a:t>
            </a:r>
          </a:p>
          <a:p>
            <a:pPr>
              <a:spcAft>
                <a:spcPts val="1200"/>
              </a:spcAft>
              <a:defRPr sz="1800"/>
            </a:pPr>
            <a:r>
              <a:t>• 연산량 증가가 아닌 '선별적 집중'이 AI를 똑똑하게 만듦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Brain Diagram / Transformer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90FF"/>
                </a:solidFill>
              </a:defRPr>
            </a:pPr>
            <a:r>
              <a:t>인간의 인지 전략 → LLM 컨텍스트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연관짓기 (Association) → RAG와 시맨틱 검색</a:t>
            </a:r>
          </a:p>
          <a:p>
            <a:pPr>
              <a:spcAft>
                <a:spcPts val="1200"/>
              </a:spcAft>
              <a:defRPr sz="1800"/>
            </a:pPr>
            <a:r>
              <a:t>• 의도적 회피 (Avoidance) → 프롬프트 프루닝</a:t>
            </a:r>
          </a:p>
          <a:p>
            <a:pPr>
              <a:spcAft>
                <a:spcPts val="1200"/>
              </a:spcAft>
              <a:defRPr sz="1800"/>
            </a:pPr>
            <a:r>
              <a:t>• 청킹 (Chunking) → 데이터 구조화 및 재귀적 요약</a:t>
            </a:r>
          </a:p>
          <a:p>
            <a:pPr>
              <a:spcAft>
                <a:spcPts val="1200"/>
              </a:spcAft>
              <a:defRPr sz="1800"/>
            </a:pPr>
            <a:r>
              <a:t>• 외부 자원 활용 (Offloading) → Tool-Use 및 에이전트 워크플로우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Brain Diagram / Transformer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90FF"/>
                </a:solidFill>
              </a:defRPr>
            </a:pPr>
            <a:r>
              <a:t>연관짓기 → RAG (Retrieval-Augmented Generation)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인간: 새로운 정보를 기존 지식 체계(Schema)에 연결하여 기억</a:t>
            </a:r>
          </a:p>
          <a:p>
            <a:pPr>
              <a:spcAft>
                <a:spcPts val="1200"/>
              </a:spcAft>
              <a:defRPr sz="1800"/>
            </a:pPr>
            <a:r>
              <a:t>• RAG: 수만 페이지의 데이터를 모두 컨텍스트에 넣는 대신</a:t>
            </a:r>
          </a:p>
          <a:p>
            <a:pPr>
              <a:spcAft>
                <a:spcPts val="1200"/>
              </a:spcAft>
              <a:defRPr sz="1800"/>
            </a:pPr>
            <a:r>
              <a:t>• 질문과 가장 연관성(Semantic Similarity)이 높은 조각만 실시간 검색</a:t>
            </a:r>
          </a:p>
          <a:p>
            <a:pPr>
              <a:spcAft>
                <a:spcPts val="1200"/>
              </a:spcAft>
              <a:defRPr sz="1800"/>
            </a:pPr>
            <a:r>
              <a:t>• 도서관에서 관련 서적만 뽑아 책상 위에 올려두는 것과 같음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Brain Diagram / Transformer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90FF"/>
                </a:solidFill>
              </a:defRPr>
            </a:pPr>
            <a:r>
              <a:t>의도적 회피 → 프롬프트 프루닝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인간: 복잡한 환경에서 집중력을 유지하기 위해 소음 차단</a:t>
            </a:r>
          </a:p>
          <a:p>
            <a:pPr>
              <a:spcAft>
                <a:spcPts val="1200"/>
              </a:spcAft>
              <a:defRPr sz="1800"/>
            </a:pPr>
            <a:r>
              <a:t>• Prompt Pruning: 불필요한 수식어와 중복 설명 삭제</a:t>
            </a:r>
          </a:p>
          <a:p>
            <a:pPr>
              <a:spcAft>
                <a:spcPts val="1200"/>
              </a:spcAft>
              <a:defRPr sz="1800"/>
            </a:pPr>
            <a:r>
              <a:t>• 핵심 지시문만 남기는 기법</a:t>
            </a:r>
          </a:p>
          <a:p>
            <a:pPr>
              <a:spcAft>
                <a:spcPts val="1200"/>
              </a:spcAft>
              <a:defRPr sz="1800"/>
            </a:pPr>
            <a:r>
              <a:t>• 'Lost in the Middle' 현상 방지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Brain Diagram / Transformer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90FF"/>
                </a:solidFill>
              </a:defRPr>
            </a:pPr>
            <a:r>
              <a:t>청킹 → 데이터 구조화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인간: 긴 전화번호를 세 자리씩 끊어서 외움</a:t>
            </a:r>
          </a:p>
          <a:p>
            <a:pPr>
              <a:spcAft>
                <a:spcPts val="1200"/>
              </a:spcAft>
              <a:defRPr sz="1800"/>
            </a:pPr>
            <a:r>
              <a:t>• Recursive Summarization: 섹션별 요약 후 합쳐서 전체 맥락 파악</a:t>
            </a:r>
          </a:p>
          <a:p>
            <a:pPr>
              <a:spcAft>
                <a:spcPts val="1200"/>
              </a:spcAft>
              <a:defRPr sz="1800"/>
            </a:pPr>
            <a:r>
              <a:t>• Hierarchical Context: 상위 수준 개요와 하위 수준 상세 정보를 계층적으로 관리</a:t>
            </a:r>
          </a:p>
          <a:p>
            <a:pPr>
              <a:spcAft>
                <a:spcPts val="1200"/>
              </a:spcAft>
              <a:defRPr sz="1800"/>
            </a:pPr>
            <a:r>
              <a:t>• 현재 처리 중인 단계에 필요한 자원만 집중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Gestalt Example / Illusion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지각심리학 세션</a:t>
            </a:r>
          </a:p>
          <a:p>
            <a:r>
              <a:t>Perception Psychology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Gestalt Example / Illusion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2CD32"/>
                </a:solidFill>
              </a:defRPr>
            </a:pPr>
            <a:r>
              <a:t>오프닝: 뇌는 거짓말쟁인가, 예술가인가?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'당신이 보는 세상은 실제가 아닙니다. 뇌가 만들어낸 추측입니다.'</a:t>
            </a:r>
          </a:p>
          <a:p>
            <a:pPr>
              <a:spcAft>
                <a:spcPts val="1200"/>
              </a:spcAft>
              <a:defRPr sz="1800"/>
            </a:pPr>
            <a:r>
              <a:t>• 뇌는 수동적인 칩막이 아니라 능동적인 예측 엔진</a:t>
            </a:r>
          </a:p>
          <a:p>
            <a:pPr>
              <a:spcAft>
                <a:spcPts val="1200"/>
              </a:spcAft>
              <a:defRPr sz="1800"/>
            </a:pPr>
            <a:r>
              <a:t>• 불완전하고 단절된 정보를 매끄럽게 연결</a:t>
            </a:r>
          </a:p>
          <a:p>
            <a:pPr>
              <a:spcAft>
                <a:spcPts val="1200"/>
              </a:spcAft>
              <a:defRPr sz="1800"/>
            </a:pPr>
            <a:r>
              <a:t>• 착시(Illusion)와 AI의 할루시네이션(Hallucination)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Gestalt Example / Illusion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2CD32"/>
                </a:solidFill>
              </a:defRPr>
            </a:pPr>
            <a:r>
              <a:t>게슈탈트 심리학: 전체는 부분의 합보다 크다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근접성의 법칙 (Proximity): 가까운 것들은 하나의 그룹으로 인식</a:t>
            </a:r>
          </a:p>
          <a:p>
            <a:pPr>
              <a:spcAft>
                <a:spcPts val="1200"/>
              </a:spcAft>
              <a:defRPr sz="1800"/>
            </a:pPr>
            <a:r>
              <a:t>• 유사성의 법칙 (Similarity): 비슷한 색/모양은 같은 카테고리로 묶임</a:t>
            </a:r>
          </a:p>
          <a:p>
            <a:pPr>
              <a:spcAft>
                <a:spcPts val="1200"/>
              </a:spcAft>
              <a:defRPr sz="1800"/>
            </a:pPr>
            <a:r>
              <a:t>• 연속성의 법칙 (Continuity): 끊긴 선도 자연스러운 흐름으로 연결</a:t>
            </a:r>
          </a:p>
          <a:p>
            <a:pPr>
              <a:spcAft>
                <a:spcPts val="1200"/>
              </a:spcAft>
              <a:defRPr sz="1800"/>
            </a:pPr>
            <a:r>
              <a:t>• 폐쇄성의 법칙 (Closure): 불완전한 형태도 완전한 형태로 인식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Gestalt Example / Illusion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2CD32"/>
                </a:solidFill>
              </a:defRPr>
            </a:pPr>
            <a:r>
              <a:t>맹점 채우기: 뇌의 일상적인 할루시네이션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눈에는 맹점(Blind Spot)이 존재: 시신경이 망막을 빠져나가는 부분</a:t>
            </a:r>
          </a:p>
          <a:p>
            <a:pPr>
              <a:spcAft>
                <a:spcPts val="1200"/>
              </a:spcAft>
              <a:defRPr sz="1800"/>
            </a:pPr>
            <a:r>
              <a:t>• 그러나 우리는 일상에서 이 구멍을 전혀 느끼지 못함</a:t>
            </a:r>
          </a:p>
          <a:p>
            <a:pPr>
              <a:spcAft>
                <a:spcPts val="1200"/>
              </a:spcAft>
              <a:defRPr sz="1800"/>
            </a:pPr>
            <a:r>
              <a:t>• 뇌는 주변 맥락을 바탕으로 한 통계적 추론으로 즉시 채움</a:t>
            </a:r>
          </a:p>
          <a:p>
            <a:pPr>
              <a:spcAft>
                <a:spcPts val="1200"/>
              </a:spcAft>
              <a:defRPr sz="1800"/>
            </a:pPr>
            <a:r>
              <a:t>• 이미지 인페인팅(Inpainting) 알고리즘과 동일한 원리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Gestalt Example / Illusion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2CD32"/>
                </a:solidFill>
              </a:defRPr>
            </a:pPr>
            <a:r>
              <a:t>할루시네이션의 심리학적 재정의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전통적 관점: AI의 할루시네이션 = '시스템 오류'</a:t>
            </a:r>
          </a:p>
          <a:p>
            <a:pPr>
              <a:spcAft>
                <a:spcPts val="1200"/>
              </a:spcAft>
              <a:defRPr sz="1800"/>
            </a:pPr>
            <a:r>
              <a:t>• 지각심리학적 관점: '지능의 본성'을 보여주는 현상</a:t>
            </a:r>
          </a:p>
          <a:p>
            <a:pPr>
              <a:spcAft>
                <a:spcPts val="1200"/>
              </a:spcAft>
              <a:defRPr sz="1800"/>
            </a:pPr>
            <a:r>
              <a:t>• 인간의 지각 vs AI의 생성: 동일한 원리에 기반</a:t>
            </a:r>
          </a:p>
          <a:p>
            <a:pPr>
              <a:spcAft>
                <a:spcPts val="1200"/>
              </a:spcAft>
              <a:defRPr sz="1800"/>
            </a:pPr>
            <a:r>
              <a:t>• 둘 다 '확률적으로 가장 그럴듯한' 결과를 선택하여 연속성 추구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Gestalt Example / Illusion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2CD32"/>
                </a:solidFill>
              </a:defRPr>
            </a:pPr>
            <a:r>
              <a:t>인간 vs AI: 공통 패턴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입력: 불완전한 시각 정보 / 불완전한 맥락/프롬프트</a:t>
            </a:r>
          </a:p>
          <a:p>
            <a:pPr>
              <a:spcAft>
                <a:spcPts val="1200"/>
              </a:spcAft>
              <a:defRPr sz="1800"/>
            </a:pPr>
            <a:r>
              <a:t>• 처리: 통계적 추론으로 공백 채우기 / 확률적 토큰 예측</a:t>
            </a:r>
          </a:p>
          <a:p>
            <a:pPr>
              <a:spcAft>
                <a:spcPts val="1200"/>
              </a:spcAft>
              <a:defRPr sz="1800"/>
            </a:pPr>
            <a:r>
              <a:t>• 결과: 매끄러운 시각 경험 / 문맥상 자연스러운 텍스트</a:t>
            </a:r>
          </a:p>
          <a:p>
            <a:pPr>
              <a:spcAft>
                <a:spcPts val="1200"/>
              </a:spcAft>
              <a:defRPr sz="1800"/>
            </a:pPr>
            <a:r>
              <a:t>• 부작용: 착시, 오인 / 사실과 다른 정보 생성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Gestalt Example / Illusion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2CD32"/>
                </a:solidFill>
              </a:defRPr>
            </a:pPr>
            <a:r>
              <a:t>인페인팅(Inpainting)으로서의 AI 할루시네이션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3D 그래픽/이미지 처리: 손상된 영역을 주변 맥락에 맞춰 복원</a:t>
            </a:r>
          </a:p>
          <a:p>
            <a:pPr>
              <a:spcAft>
                <a:spcPts val="1200"/>
              </a:spcAft>
              <a:defRPr sz="1800"/>
            </a:pPr>
            <a:r>
              <a:t>• 우리는 이를 '훌륭한 복원'이라 칭함 (위조가 아님)</a:t>
            </a:r>
          </a:p>
          <a:p>
            <a:pPr>
              <a:spcAft>
                <a:spcPts val="1200"/>
              </a:spcAft>
              <a:defRPr sz="1800"/>
            </a:pPr>
            <a:r>
              <a:t>• 창의적 글쓰기, 브레인스토밍, 가설 생성의 원천</a:t>
            </a:r>
          </a:p>
          <a:p>
            <a:pPr>
              <a:spcAft>
                <a:spcPts val="1200"/>
              </a:spcAft>
              <a:defRPr sz="1800"/>
            </a:pPr>
            <a:r>
              <a:t>• 지능의 진정한 힘은 '가능성의 공간'을 탐색하는 데 있음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Gestalt Example / Illusion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2CD32"/>
                </a:solidFill>
              </a:defRPr>
            </a:pPr>
            <a:r>
              <a:t>상황적 적합성: 버그인가, 기능인가?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순기능: 시각 정보의 단절 방지, 인지 부하 감소</a:t>
            </a:r>
          </a:p>
          <a:p>
            <a:pPr>
              <a:spcAft>
                <a:spcPts val="1200"/>
              </a:spcAft>
              <a:defRPr sz="1800"/>
            </a:pPr>
            <a:r>
              <a:t>• 창의적 글쓰기, 비유와 은유 생성, 가설 설정</a:t>
            </a:r>
          </a:p>
          <a:p>
            <a:pPr>
              <a:spcAft>
                <a:spcPts val="1200"/>
              </a:spcAft>
              <a:defRPr sz="1800"/>
            </a:pPr>
            <a:r>
              <a:t>• 역기능: 착시로 인한 사고 위험, 오정보 확산</a:t>
            </a:r>
          </a:p>
          <a:p>
            <a:pPr>
              <a:spcAft>
                <a:spcPts val="1200"/>
              </a:spcAft>
              <a:defRPr sz="1800"/>
            </a:pPr>
            <a:r>
              <a:t>• 평가 기준: 신뢰성(Reliability) vs 창의성(Creativity)의 균형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CBT Diagram / Thinking Trap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정신병리학 세션</a:t>
            </a:r>
          </a:p>
          <a:p>
            <a:r>
              <a:t>Psychopathology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CBT Diagram / Thinking Trap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800"/>
                </a:solidFill>
              </a:defRPr>
            </a:pPr>
            <a:r>
              <a:t>AI의 파국화, 인간의 파국화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정신병리학의 '파국화(Catastrophizing)'와 AI의 'CoT 실패'</a:t>
            </a:r>
          </a:p>
          <a:p>
            <a:pPr>
              <a:spcAft>
                <a:spcPts val="1200"/>
              </a:spcAft>
              <a:defRPr sz="1800"/>
            </a:pPr>
            <a:r>
              <a:t>• 두 현상 모두 '작은 오류가 논리적 단계를 거치며 거대한 파멸적 결론으로 증폭'</a:t>
            </a:r>
          </a:p>
          <a:p>
            <a:pPr>
              <a:spcAft>
                <a:spcPts val="1200"/>
              </a:spcAft>
              <a:defRPr sz="1800"/>
            </a:pPr>
            <a:r>
              <a:t>• 구조적 공통점: 연쇄적 논리 오염 (Sequential Error Propagation)</a:t>
            </a:r>
          </a:p>
          <a:p>
            <a:pPr>
              <a:spcAft>
                <a:spcPts val="1200"/>
              </a:spcAft>
              <a:defRPr sz="1800"/>
            </a:pPr>
            <a:r>
              <a:t>• 파국화를 극복하는 방법: CBT (인지행동치료)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CBT Diagram / Thinking Trap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800"/>
                </a:solidFill>
              </a:defRPr>
            </a:pPr>
            <a:r>
              <a:t>연쇄적 논리 오염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파국화: '오늘 실수 → 상사가 나를 싫어함 → 해고 → 인생 망함'</a:t>
            </a:r>
          </a:p>
          <a:p>
            <a:pPr>
              <a:spcAft>
                <a:spcPts val="1200"/>
              </a:spcAft>
              <a:defRPr sz="1800"/>
            </a:pPr>
            <a:r>
              <a:t>• CoT 실패: 첫 추론 단계의 미세한 오류가 정교한 논리를 쌓아 올림</a:t>
            </a:r>
          </a:p>
          <a:p>
            <a:pPr>
              <a:spcAft>
                <a:spcPts val="1200"/>
              </a:spcAft>
              <a:defRPr sz="1800"/>
            </a:pPr>
            <a:r>
              <a:t>• 논리적 표류(Reasoning Drift): 정합적이지만 결론은 안드로메다로</a:t>
            </a:r>
          </a:p>
          <a:p>
            <a:pPr>
              <a:spcAft>
                <a:spcPts val="1200"/>
              </a:spcAft>
              <a:defRPr sz="1800"/>
            </a:pPr>
            <a:r>
              <a:t>• 첫 번째 도미노가 넘어지면 뒤따르는 모든 논리가 오류를 정당화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CBT Diagram / Thinking Trap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800"/>
                </a:solidFill>
              </a:defRPr>
            </a:pPr>
            <a:r>
              <a:t>내부 정합성의 함정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파국화를 겪는 환자: 각 단계가 매우 필연적이고 개연성 있게 느껴짐</a:t>
            </a:r>
          </a:p>
          <a:p>
            <a:pPr>
              <a:spcAft>
                <a:spcPts val="1200"/>
              </a:spcAft>
              <a:defRPr sz="1800"/>
            </a:pPr>
            <a:r>
              <a:t>• CoT 오류에 빠진 LLM: 틀린 문맥 안에서 가장 '그럴듯한' 답변</a:t>
            </a:r>
          </a:p>
          <a:p>
            <a:pPr>
              <a:spcAft>
                <a:spcPts val="1200"/>
              </a:spcAft>
              <a:defRPr sz="1800"/>
            </a:pPr>
            <a:r>
              <a:t>• 외부의 객관적 사실(Ground Truth)보다 자기 내부의 논리적 흐름을 우선</a:t>
            </a:r>
          </a:p>
          <a:p>
            <a:pPr>
              <a:spcAft>
                <a:spcPts val="1200"/>
              </a:spcAft>
              <a:defRPr sz="1800"/>
            </a:pPr>
            <a:r>
              <a:t>• 확증 편향: 스스로가 낸 오답에 대해 편향을 갖게 됨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CBT Diagram / Thinking Trap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800"/>
                </a:solidFill>
              </a:defRPr>
            </a:pPr>
            <a:r>
              <a:t>자기 수정 기제의 부재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파국화: 불안(Anxiety)이 인지 자원을 독점 → 전두엽 기능 약화</a:t>
            </a:r>
          </a:p>
          <a:p>
            <a:pPr>
              <a:spcAft>
                <a:spcPts val="1200"/>
              </a:spcAft>
              <a:defRPr sz="1800"/>
            </a:pPr>
            <a:r>
              <a:t>• CoT 실패: 한 번 내뱉은 추론 과정을 되돌아보며 수정하는 기능 부재</a:t>
            </a:r>
          </a:p>
          <a:p>
            <a:pPr>
              <a:spcAft>
                <a:spcPts val="1200"/>
              </a:spcAft>
              <a:defRPr sz="1800"/>
            </a:pPr>
            <a:r>
              <a:t>• Autoregressive 특성: 한 방향으로만 흐르는 구조</a:t>
            </a:r>
          </a:p>
          <a:p>
            <a:pPr>
              <a:spcAft>
                <a:spcPts val="1200"/>
              </a:spcAft>
              <a:defRPr sz="1800"/>
            </a:pPr>
            <a:r>
              <a:t>• 메타 인지(생각에 대한 생각)가 작동하지 않음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CBT Diagram / Thinking Trap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800"/>
                </a:solidFill>
              </a:defRPr>
            </a:pPr>
            <a:r>
              <a:t>파국화 vs CoT 실패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원인: 불안에 의한 부정적 편향 / 초기 토큰의 낮은 확률적 정확도</a:t>
            </a:r>
          </a:p>
          <a:p>
            <a:pPr>
              <a:spcAft>
                <a:spcPts val="1200"/>
              </a:spcAft>
              <a:defRPr sz="1800"/>
            </a:pPr>
            <a:r>
              <a:t>• 과정: '만약 ~라면?'의 비극적 연쇄 / 'Step-by-step'의 논리적 오염</a:t>
            </a:r>
          </a:p>
          <a:p>
            <a:pPr>
              <a:spcAft>
                <a:spcPts val="1200"/>
              </a:spcAft>
              <a:defRPr sz="1800"/>
            </a:pPr>
            <a:r>
              <a:t>• 결과: 극단적인 비관례 / 어처구니없는 오답 (할루시네이션)</a:t>
            </a:r>
          </a:p>
          <a:p>
            <a:pPr>
              <a:spcAft>
                <a:spcPts val="1200"/>
              </a:spcAft>
              <a:defRPr sz="1800"/>
            </a:pPr>
            <a:r>
              <a:t>• 치료/해결: CBT, 메타인지 훈련 / Self-Reflection 프롬프팅, 다수결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CBT Diagram / Thinking Trap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800"/>
                </a:solidFill>
              </a:defRPr>
            </a:pPr>
            <a:r>
              <a:t>CBT와 Self-Correction 알고리즘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CBT의 목적: '내가 지금 맞는 길로 가고 있는가?'를 스스로 질문</a:t>
            </a:r>
          </a:p>
          <a:p>
            <a:pPr>
              <a:spcAft>
                <a:spcPts val="1200"/>
              </a:spcAft>
              <a:defRPr sz="1800"/>
            </a:pPr>
            <a:r>
              <a:t>• Self-Reflection 트리거: '지금까지의 추론에 오류가 있었는지 검토'</a:t>
            </a:r>
          </a:p>
          <a:p>
            <a:pPr>
              <a:spcAft>
                <a:spcPts val="1200"/>
              </a:spcAft>
              <a:defRPr sz="1800"/>
            </a:pPr>
            <a:r>
              <a:t>• Chain Reset: 컨텍스트를 초기화하고 핵심만 남기고 재시작</a:t>
            </a:r>
          </a:p>
          <a:p>
            <a:pPr>
              <a:spcAft>
                <a:spcPts val="1200"/>
              </a:spcAft>
              <a:defRPr sz="1800"/>
            </a:pPr>
            <a:r>
              <a:t>• 인간의 정신 건강과 AI의 성능 향상은 같은 목적을 공유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Big 5 Chart / Spectrum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800"/>
                </a:solidFill>
              </a:defRPr>
            </a:pPr>
            <a:r>
              <a:t>CoT 끊어내기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인간을 위한: 생각 기록(Thought Record), '그래서?' 기법, 패턴 인터럽트</a:t>
            </a:r>
          </a:p>
          <a:p>
            <a:pPr>
              <a:spcAft>
                <a:spcPts val="1200"/>
              </a:spcAft>
              <a:defRPr sz="1800"/>
            </a:pPr>
            <a:r>
              <a:t>• AI를 위한: Self-Reflection 트리거 주입, Chain Reset, 분기점 삽입</a:t>
            </a:r>
          </a:p>
          <a:p>
            <a:pPr>
              <a:spcAft>
                <a:spcPts val="1200"/>
              </a:spcAft>
              <a:defRPr sz="1800"/>
            </a:pPr>
            <a:r>
              <a:t>• 확증 편향 차단: 결론을 반박할 수 있는 근거 제시 요구</a:t>
            </a:r>
          </a:p>
          <a:p>
            <a:pPr>
              <a:spcAft>
                <a:spcPts val="1200"/>
              </a:spcAft>
              <a:defRPr sz="1800"/>
            </a:pPr>
            <a:r>
              <a:t>• 컨텍스트 제공 방식의 재검토: 그래프 기반, 질문-중심, 역할 반전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Big 5 Chart / Spectrum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성격심리학 세션</a:t>
            </a:r>
          </a:p>
          <a:p>
            <a:r>
              <a:t>Personality Psychology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Big 5 Chart / Spectrum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370DB"/>
                </a:solidFill>
              </a:defRPr>
            </a:pPr>
            <a:r>
              <a:t>페르소나, 어떻게 만들 것인가?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'AI에게 성격을 부여하는 것은 단순한 장식인가, 성능의 도구인가?'</a:t>
            </a:r>
          </a:p>
          <a:p>
            <a:pPr>
              <a:spcAft>
                <a:spcPts val="1200"/>
              </a:spcAft>
              <a:defRPr sz="1800"/>
            </a:pPr>
            <a:r>
              <a:t>• 성격심리학은 AI에게 '일관된 행동 양식'을 부여하는 방법례</a:t>
            </a:r>
          </a:p>
          <a:p>
            <a:pPr>
              <a:spcAft>
                <a:spcPts val="1200"/>
              </a:spcAft>
              <a:defRPr sz="1800"/>
            </a:pPr>
            <a:r>
              <a:t>• 페르소나가 명확할수록 AI의 답변 일관성(Consistency)이 높아짐</a:t>
            </a:r>
          </a:p>
          <a:p>
            <a:pPr>
              <a:spcAft>
                <a:spcPts val="1200"/>
              </a:spcAft>
              <a:defRPr sz="1800"/>
            </a:pPr>
            <a:r>
              <a:t>• Big Five (5요인 모델): OCEAN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Big 5 Chart / Spectrum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370DB"/>
                </a:solidFill>
              </a:defRPr>
            </a:pPr>
            <a:r>
              <a:t>Big Five (5요인 모델) 적용하기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개방성(Openness): 높으면 창의적 비유, 낮으면 교과서적 답변</a:t>
            </a:r>
          </a:p>
          <a:p>
            <a:pPr>
              <a:spcAft>
                <a:spcPts val="1200"/>
              </a:spcAft>
              <a:defRPr sz="1800"/>
            </a:pPr>
            <a:r>
              <a:t>• 성실성(Conscientiousness): 높으면 주석과 예외 처리에 집착</a:t>
            </a:r>
          </a:p>
          <a:p>
            <a:pPr>
              <a:spcAft>
                <a:spcPts val="1200"/>
              </a:spcAft>
              <a:defRPr sz="1800"/>
            </a:pPr>
            <a:r>
              <a:t>• 외향성(Extroversion): 대화의 톤과 에너지 레벨 결정</a:t>
            </a:r>
          </a:p>
          <a:p>
            <a:pPr>
              <a:spcAft>
                <a:spcPts val="1200"/>
              </a:spcAft>
              <a:defRPr sz="1800"/>
            </a:pPr>
            <a:r>
              <a:t>• 우호성(Agreeableness): 친절함과 협조적인 태도 조절</a:t>
            </a:r>
          </a:p>
          <a:p>
            <a:pPr>
              <a:spcAft>
                <a:spcPts val="1200"/>
              </a:spcAft>
              <a:defRPr sz="1800"/>
            </a:pPr>
            <a:r>
              <a:t>• 신경증(Neuroticism): 정서적 안정감 (특정 상황에서는 예민함으로 오류 검출)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Big 5 Chart / Spectrum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370DB"/>
                </a:solidFill>
              </a:defRPr>
            </a:pPr>
            <a:r>
              <a:t>페르소나 설계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역할 정의 (Persona): 특정 전문가의 정체성 부여</a:t>
            </a:r>
          </a:p>
          <a:p>
            <a:pPr>
              <a:spcAft>
                <a:spcPts val="1200"/>
              </a:spcAft>
              <a:defRPr sz="1800"/>
            </a:pPr>
            <a:r>
              <a:t>• 톤 앤 매너 설정: 대화의 스타일과 어조 결정</a:t>
            </a:r>
          </a:p>
          <a:p>
            <a:pPr>
              <a:spcAft>
                <a:spcPts val="1200"/>
              </a:spcAft>
              <a:defRPr sz="1800"/>
            </a:pPr>
            <a:r>
              <a:t>• 지식 범위 설정: 전문성의 깊이와 폭 조절</a:t>
            </a:r>
          </a:p>
          <a:p>
            <a:pPr>
              <a:spcAft>
                <a:spcPts val="1200"/>
              </a:spcAft>
              <a:defRPr sz="1800"/>
            </a:pPr>
            <a:r>
              <a:t>• 일관성 유지: 시스템 프롬프트를 통한 행동 패턴 고정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320040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646464"/>
                </a:solidFill>
              </a:rPr>
              <a:t>[이미지 삽입]</a:t>
            </a:r>
          </a:p>
          <a:p>
            <a:r>
              <a:rPr sz="1400" i="1">
                <a:solidFill>
                  <a:srgbClr val="646464"/>
                </a:solidFill>
              </a:rPr>
              <a:t>Big 5 Chart / Spectrum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통합: 인간-AI 공진화</a:t>
            </a:r>
          </a:p>
          <a:p>
            <a:r>
              <a:t>Mutual Adaptation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인간과 AI의 대칭적 성장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지능이란 '유한한 자원' 속에서 '최선의 결과'를 내기 위한 몸부림</a:t>
            </a:r>
          </a:p>
          <a:p>
            <a:pPr>
              <a:spcAft>
                <a:spcPts val="1200"/>
              </a:spcAft>
              <a:defRPr sz="1800"/>
            </a:pPr>
            <a:r>
              <a:t>• 인지: AI는 컨텍스트 최적화로, 인간은 작업 기억 한계 인정으로</a:t>
            </a:r>
          </a:p>
          <a:p>
            <a:pPr>
              <a:spcAft>
                <a:spcPts val="1200"/>
              </a:spcAft>
              <a:defRPr sz="1800"/>
            </a:pPr>
            <a:r>
              <a:t>• 지각: AI는 할루시네이션 억제로, 인간은 생성적 본성 이해로</a:t>
            </a:r>
          </a:p>
          <a:p>
            <a:pPr>
              <a:spcAft>
                <a:spcPts val="1200"/>
              </a:spcAft>
              <a:defRPr sz="1800"/>
            </a:pPr>
            <a:r>
              <a:t>• 병리: AI는 CoT 자기 수정으로, 인간은 CBT로</a:t>
            </a:r>
          </a:p>
          <a:p>
            <a:pPr>
              <a:spcAft>
                <a:spcPts val="1200"/>
              </a:spcAft>
              <a:defRPr sz="1800"/>
            </a:pPr>
            <a:r>
              <a:t>• 성격: AI는 페르소나 설정으로, 인간은 명확한 의도 설정으로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인간이 극복해야 할 세 가지 심리적 허들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정서적 파국화 방지: '에러 = 나에 대한 공격'이 아닌 '조율을 위한 데이터'로</a:t>
            </a:r>
          </a:p>
          <a:p>
            <a:pPr>
              <a:spcAft>
                <a:spcPts val="1200"/>
              </a:spcAft>
              <a:defRPr sz="1800"/>
            </a:pPr>
            <a:r>
              <a:t>• 확증 편향의 능동적 해체: AI의 논리 사슬을 중간중간 끊고 검증하는 습관</a:t>
            </a:r>
          </a:p>
          <a:p>
            <a:pPr>
              <a:spcAft>
                <a:spcPts val="1200"/>
              </a:spcAft>
              <a:defRPr sz="1800"/>
            </a:pPr>
            <a:r>
              <a:t>• '통제권'에 대한 강박 내려놓기: '맥락'을 제어하는 것에 집중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AI 심리학은 기계를 더 잘 부려먹기 위한 매뉴얼이 아님</a:t>
            </a:r>
          </a:p>
          <a:p>
            <a:pPr>
              <a:spcAft>
                <a:spcPts val="1200"/>
              </a:spcAft>
              <a:defRPr sz="1800"/>
            </a:pPr>
            <a:r>
              <a:t>• AI라는 거울을 통해 우리 자신의 인지적 한계와 편향을 들여다보는 과정</a:t>
            </a:r>
          </a:p>
          <a:p>
            <a:pPr>
              <a:spcAft>
                <a:spcPts val="1200"/>
              </a:spcAft>
              <a:defRPr sz="1800"/>
            </a:pPr>
            <a:r>
              <a:t>• 결함을 기술과 심리학으로 함께 보완해 나가는 '지능의 협업'</a:t>
            </a:r>
          </a:p>
          <a:p>
            <a:pPr>
              <a:spcAft>
                <a:spcPts val="1200"/>
              </a:spcAft>
              <a:defRPr sz="1800"/>
            </a:pPr>
            <a:r>
              <a:t>• AI를 튜닝하십시오. 그리고 그 과정에서 당신의 마음도 함께 튜닝하십시오.</a:t>
            </a:r>
          </a:p>
          <a:p>
            <a:pPr>
              <a:spcAft>
                <a:spcPts val="1200"/>
              </a:spcAft>
              <a:defRPr sz="1800"/>
            </a:pPr>
            <a:r>
              <a:t>• 그것이 진정한 의미의 바이브 코딩이자 미래의 지능입니다.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